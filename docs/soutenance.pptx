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nous sommes Gauvin et Alessio. Nous allons vous présenter notre projet NoSQL : un catalogue en ligne de pièces détachées moto, construit sur Firebase Cloud Firestore. Le plan : d'abord le problème et notre choix de modèle, puis une démonstration en direct de l'application, et enfin un point sur le code et l'organisation. N'hésitez pas à nous interroger à la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de départ, c'est un vrai problème de modélisation. Une boutique vend des pièces très différentes : une plaquette de frein, un pneu et un guidon n'ont rien des mêmes caractéristiques. En base relationnelle, on est vite coincé : soit une table avec des dizaines de colonnes presque toujours vides, soit une multiplication de tables, soit un schéma rigide qu'il faut migrer à chaque nouveau type de produit. C'est exactement le cas d'usage où le relationnel devient lourd — et où le NoSQL prend tout son sens.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réponse : une base NoSQL orientée document. Le terme NoSQL — « Not Only SQL » — regroupe plusieurs familles ; nous, on utilise le modèle document, celui de Firestore et de MongoDB. L'idée tient en une phrase : un enregistrement est un objet JSON, avec des champs libres. Pas de schéma imposé à l'avance, chaque document peut avoir sa propre forme, et on imbrique les données liées directement dans l'objet plutôt que de faire des jointures. C'est parfait pour un catalogue de produits hétérogènes.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concrètement un produit dans notre base. En haut, les champs communs à toutes les pièces : nom, catégorie, marque, prix, et l'image — qu'on stocke sous forme d'URL, pas de fichier, car le stockage de fichiers est hors du plan gratuit et servir une image depuis un lien est un pattern courant. Ensuite, le point clé : l'objet « attributs », souple, qui change selon la catégorie — c'est lui qui résout notre problème de départ. Et un tableau « compatibilités » qui liste les motos concernées. Tout est imbriqué dans un seul document : pas de jointure.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technique, trois briques et aucun outil de build. La base, c'est Firebase Firestore : gratuite, sans carte bancaire, et surtout interrogeable directement depuis le navigateur — donc pas de back-end à écrire. Le front, c'est du HTML, CSS et JavaScript natif, avec le SDK Firebase importé par CDN : on ouvre le projet et ça tourne, sans npm ni compilation. Et le tout est déployé en ligne, accessible par une simple URL. Une stack volontairement simple, pour se concentrer sur le modèle de données et le CRUD.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L'application couvre deux côtés. Pour le visiteur : la liste des pièces, la recherche par mot-clé, le filtre par catégorie, et une fiche technique détaillée pour chaque pièce. Pour la gestion : un espace d'administration protégé par mot de passe, où l'on peut ajouter, modifier et supprimer une pièce — le CRUD complet. Le filtre par catégorie est une vraie requête côté base ; la recherche par mot-clé, elle, se fait côté navigateur. On vous montre tout ça en direct juste après.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bascule sur le navigateur, sur le site en ligne — pas en local. Parcours visiteur d'abord : on filtre la catégorie Freinage, on recherche « michelin », et on ouvre une fiche technique. Moment clé à souligner : sur la fiche, montrer qu'une plaquette a les attributs matière et position, alors qu'un pneu a dimension et saison — totalement différents — et dire : voilà pourquoi on a choisi le NoSQL, sans changer de schéma. Ensuite, parcours gestion : on clique Administration, on tape d'abord un mauvais mot de passe pour montrer le refus, puis le bon, et on ajoute, modifie, supprime une pièce. Enfin, on garde la console Firebase ouverte pour prouver que la base change en direct. Plan B si le réseau lâche : démo lancée en local et captures dans les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vous regardez le code, trois choses à retenir. Un : le CRUD tient en quatre fonctions du SDK Firestore, toutes asynchrones — addDoc pour créer, getDocs pour lire, updateDoc pour modifier, deleteDoc pour supprimer. Deux : le filtre par catégorie est une vraie requête NoSQL, avec query et where « categorie égale la valeur » — seuls les bons documents sont téléchargés. Trois : la recherche par mot-clé se fait côté navigateur, sur les produits déjà chargés, car Firestore n'a pas de recherche plein texte native. Chacun de nous sait expliquer ces parties en détail.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sécurité se joue à deux niveaux, et on assume une limite. Premier niveau, l'interface : la page d'administration demande un mot de passe. Il n'est jamais en clair dans le code — on stocke seulement son empreinte SHA-256, calculée avec l'API native crypto.subtle — et la session vit dans sessionStorage, donc se ferme avec l'onglet. Deuxième niveau, la base : les règles Firestore, côté serveur — lecture publique pour le catalogue, écriture ouverte le temps du projet. La limite qu'on assume : le mot de passe protège l'interface, pas la base. En production, on passerait par Firebase Authentication, avec une règle « écriture autorisée seulement si l'utilisateur est connecté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organisation : on a travaillé à deux, proprement. Le backlog vient des user stories du cahier des charges et vit dans Trello. Sur GitHub, trois branches : main reste stable, et chacun développe sur sa branche — Gauvin sur le modèle de données, le CRUD et l'authentification ; Alessio sur l'interface, la recherche et le design — avec des Pull Requests et une relecture croisée avant chaque fusion. Résultat : les contributions des deux sont visibles, et chacun comprend l'ensemble du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l'application est en ligne, le CRUD complet fonctionne dans un espace protégé par mot de passe — ce qui répond au bonus du brief —, le filtre par catégorie est une vraie requête, et le modèle document a prouvé sa souplesse. Les suites naturelles : Firebase Authentication pour sécuriser aussi la base, Firebase Storage pour téléverser de vraies photos, et la pagination quand le catalogue grossira. Merci de votre attention — nous passons à la démonstration et à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51B"/>
        </a:solidFill>
      </p:bgPr>
    </p:bg>
    <p:spTree>
      <p:nvGrpSpPr>
        <p:cNvPr id="1" name=""/>
        <p:cNvGrpSpPr/>
        <p:nvPr/>
      </p:nvGrpSpPr>
      <p:grpSpPr>
        <a:xfrm>
          <a:off x="0" y="0"/>
          <a:ext cx="0" cy="0"/>
          <a:chOff x="0" y="0"/>
          <a:chExt cx="0" cy="0"/>
        </a:xfrm>
      </p:grpSpPr>
      <p:sp>
        <p:nvSpPr>
          <p:cNvPr id="2" name="Text 0"/>
          <p:cNvSpPr/>
          <p:nvPr/>
        </p:nvSpPr>
        <p:spPr>
          <a:xfrm>
            <a:off x="8412480" y="4828032"/>
            <a:ext cx="457200" cy="228600"/>
          </a:xfrm>
          <a:prstGeom prst="rect">
            <a:avLst/>
          </a:prstGeom>
          <a:noFill/>
          <a:ln/>
        </p:spPr>
        <p:txBody>
          <a:bodyPr wrap="square" rtlCol="0" anchor="ctr"/>
          <a:lstStyle/>
          <a:p>
            <a:pPr algn="r" indent="0" marL="0">
              <a:buNone/>
            </a:pPr>
            <a:r>
              <a:rPr lang="en-US" sz="900" dirty="0">
                <a:solidFill>
                  <a:srgbClr val="5E6B76"/>
                </a:solidFill>
                <a:latin typeface="Arial" pitchFamily="34" charset="0"/>
                <a:ea typeface="Arial" pitchFamily="34" charset="-122"/>
                <a:cs typeface="Arial" pitchFamily="34" charset="-120"/>
              </a:rPr>
              <a:t>1</a:t>
            </a:r>
            <a:endParaRPr lang="en-US" sz="900" dirty="0"/>
          </a:p>
        </p:txBody>
      </p:sp>
      <p:sp>
        <p:nvSpPr>
          <p:cNvPr id="4" name="Shape 1"/>
          <p:cNvSpPr/>
          <p:nvPr/>
        </p:nvSpPr>
        <p:spPr>
          <a:xfrm>
            <a:off x="4114800" y="868680"/>
            <a:ext cx="914400" cy="914400"/>
          </a:xfrm>
          <a:prstGeom prst="ellipse">
            <a:avLst/>
          </a:prstGeom>
          <a:solidFill>
            <a:srgbClr val="F4581C"/>
          </a:solidFill>
          <a:ln/>
        </p:spPr>
      </p:sp>
      <p:pic>
        <p:nvPicPr>
          <p:cNvPr id="5" name="Image 0" descr="preencoded.png">    </p:cNvPr>
          <p:cNvPicPr>
            <a:picLocks noChangeAspect="1"/>
          </p:cNvPicPr>
          <p:nvPr/>
        </p:nvPicPr>
        <p:blipFill>
          <a:blip r:embed="rId1"/>
          <a:stretch>
            <a:fillRect/>
          </a:stretch>
        </p:blipFill>
        <p:spPr>
          <a:xfrm>
            <a:off x="4361688" y="1115568"/>
            <a:ext cx="420624" cy="420624"/>
          </a:xfrm>
          <a:prstGeom prst="rect">
            <a:avLst/>
          </a:prstGeom>
        </p:spPr>
      </p:pic>
      <p:sp>
        <p:nvSpPr>
          <p:cNvPr id="6" name="Text 2"/>
          <p:cNvSpPr/>
          <p:nvPr/>
        </p:nvSpPr>
        <p:spPr>
          <a:xfrm>
            <a:off x="457200" y="2057400"/>
            <a:ext cx="8229600" cy="292608"/>
          </a:xfrm>
          <a:prstGeom prst="rect">
            <a:avLst/>
          </a:prstGeom>
          <a:noFill/>
          <a:ln/>
        </p:spPr>
        <p:txBody>
          <a:bodyPr wrap="square" rtlCol="0" anchor="ctr"/>
          <a:lstStyle/>
          <a:p>
            <a:pPr algn="ctr" indent="0" marL="0">
              <a:buNone/>
            </a:pPr>
            <a:r>
              <a:rPr lang="en-US" sz="1200" b="1" spc="400" kern="0" dirty="0">
                <a:solidFill>
                  <a:srgbClr val="F4581C"/>
                </a:solidFill>
                <a:latin typeface="Arial" pitchFamily="34" charset="0"/>
                <a:ea typeface="Arial" pitchFamily="34" charset="-122"/>
                <a:cs typeface="Arial" pitchFamily="34" charset="-120"/>
              </a:rPr>
              <a:t>PROJET BASES DE DONNÉES NOSQL</a:t>
            </a:r>
            <a:endParaRPr lang="en-US" sz="1200" dirty="0"/>
          </a:p>
        </p:txBody>
      </p:sp>
      <p:sp>
        <p:nvSpPr>
          <p:cNvPr id="7" name="Text 3"/>
          <p:cNvSpPr/>
          <p:nvPr/>
        </p:nvSpPr>
        <p:spPr>
          <a:xfrm>
            <a:off x="457200" y="2395728"/>
            <a:ext cx="8229600" cy="777240"/>
          </a:xfrm>
          <a:prstGeom prst="rect">
            <a:avLst/>
          </a:prstGeom>
          <a:noFill/>
          <a:ln/>
        </p:spPr>
        <p:txBody>
          <a:bodyPr wrap="square" rtlCol="0" anchor="ctr"/>
          <a:lstStyle/>
          <a:p>
            <a:pPr algn="ctr" indent="0" marL="0">
              <a:buNone/>
            </a:pPr>
            <a:r>
              <a:rPr lang="en-US" sz="4000" b="1" dirty="0">
                <a:solidFill>
                  <a:srgbClr val="EEF4F2"/>
                </a:solidFill>
                <a:latin typeface="Arial" pitchFamily="34" charset="0"/>
                <a:ea typeface="Arial" pitchFamily="34" charset="-122"/>
                <a:cs typeface="Arial" pitchFamily="34" charset="-120"/>
              </a:rPr>
              <a:t>Catalogue de pièces moto</a:t>
            </a:r>
            <a:endParaRPr lang="en-US" sz="4000" dirty="0"/>
          </a:p>
        </p:txBody>
      </p:sp>
      <p:sp>
        <p:nvSpPr>
          <p:cNvPr id="8" name="Text 4"/>
          <p:cNvSpPr/>
          <p:nvPr/>
        </p:nvSpPr>
        <p:spPr>
          <a:xfrm>
            <a:off x="457200" y="3200400"/>
            <a:ext cx="8229600" cy="320040"/>
          </a:xfrm>
          <a:prstGeom prst="rect">
            <a:avLst/>
          </a:prstGeom>
          <a:noFill/>
          <a:ln/>
        </p:spPr>
        <p:txBody>
          <a:bodyPr wrap="square" rtlCol="0" anchor="ctr"/>
          <a:lstStyle/>
          <a:p>
            <a:pPr algn="ctr" indent="0" marL="0">
              <a:buNone/>
            </a:pPr>
            <a:r>
              <a:rPr lang="en-US" sz="1400" dirty="0">
                <a:solidFill>
                  <a:srgbClr val="9FB4C7"/>
                </a:solidFill>
                <a:latin typeface="Arial" pitchFamily="34" charset="0"/>
                <a:ea typeface="Arial" pitchFamily="34" charset="-122"/>
                <a:cs typeface="Arial" pitchFamily="34" charset="-120"/>
              </a:rPr>
              <a:t>Firebase Firestore  ·  HTML / CSS / JavaScript</a:t>
            </a:r>
            <a:endParaRPr lang="en-US" sz="1400" dirty="0"/>
          </a:p>
        </p:txBody>
      </p:sp>
      <p:sp>
        <p:nvSpPr>
          <p:cNvPr id="9" name="Text 5"/>
          <p:cNvSpPr/>
          <p:nvPr/>
        </p:nvSpPr>
        <p:spPr>
          <a:xfrm>
            <a:off x="457200" y="3950208"/>
            <a:ext cx="8229600" cy="292608"/>
          </a:xfrm>
          <a:prstGeom prst="rect">
            <a:avLst/>
          </a:prstGeom>
          <a:noFill/>
          <a:ln/>
        </p:spPr>
        <p:txBody>
          <a:bodyPr wrap="square" rtlCol="0" anchor="ctr"/>
          <a:lstStyle/>
          <a:p>
            <a:pPr algn="ctr" indent="0" marL="0">
              <a:buNone/>
            </a:pPr>
            <a:r>
              <a:rPr lang="en-US" sz="1400" b="1" dirty="0">
                <a:solidFill>
                  <a:srgbClr val="EEF4F2"/>
                </a:solidFill>
                <a:latin typeface="Arial" pitchFamily="34" charset="0"/>
                <a:ea typeface="Arial" pitchFamily="34" charset="-122"/>
                <a:cs typeface="Arial" pitchFamily="34" charset="-120"/>
              </a:rPr>
              <a:t>Gauvin CAILLOU    ·    Alessio COGERINO</a:t>
            </a:r>
            <a:endParaRPr lang="en-US" sz="1400" dirty="0"/>
          </a:p>
        </p:txBody>
      </p:sp>
      <p:sp>
        <p:nvSpPr>
          <p:cNvPr id="10" name="Text 6"/>
          <p:cNvSpPr/>
          <p:nvPr/>
        </p:nvSpPr>
        <p:spPr>
          <a:xfrm>
            <a:off x="457200" y="4261104"/>
            <a:ext cx="8229600" cy="274320"/>
          </a:xfrm>
          <a:prstGeom prst="rect">
            <a:avLst/>
          </a:prstGeom>
          <a:noFill/>
          <a:ln/>
        </p:spPr>
        <p:txBody>
          <a:bodyPr wrap="square" rtlCol="0" anchor="ctr"/>
          <a:lstStyle/>
          <a:p>
            <a:pPr algn="ctr" indent="0" marL="0">
              <a:buNone/>
            </a:pPr>
            <a:r>
              <a:rPr lang="en-US" sz="1100" dirty="0">
                <a:solidFill>
                  <a:srgbClr val="5E6B76"/>
                </a:solidFill>
                <a:latin typeface="Arial" pitchFamily="34" charset="0"/>
                <a:ea typeface="Arial" pitchFamily="34" charset="-122"/>
                <a:cs typeface="Arial" pitchFamily="34" charset="-120"/>
              </a:rPr>
              <a:t>Bachelor 3 — Développement &amp; Infrastructure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51B"/>
        </a:solidFill>
      </p:bgPr>
    </p:bg>
    <p:spTree>
      <p:nvGrpSpPr>
        <p:cNvPr id="1" name=""/>
        <p:cNvGrpSpPr/>
        <p:nvPr/>
      </p:nvGrpSpPr>
      <p:grpSpPr>
        <a:xfrm>
          <a:off x="0" y="0"/>
          <a:ext cx="0" cy="0"/>
          <a:chOff x="0" y="0"/>
          <a:chExt cx="0" cy="0"/>
        </a:xfrm>
      </p:grpSpPr>
      <p:sp>
        <p:nvSpPr>
          <p:cNvPr id="2" name="Text 0"/>
          <p:cNvSpPr/>
          <p:nvPr/>
        </p:nvSpPr>
        <p:spPr>
          <a:xfrm>
            <a:off x="8412480" y="4828032"/>
            <a:ext cx="457200" cy="228600"/>
          </a:xfrm>
          <a:prstGeom prst="rect">
            <a:avLst/>
          </a:prstGeom>
          <a:noFill/>
          <a:ln/>
        </p:spPr>
        <p:txBody>
          <a:bodyPr wrap="square" rtlCol="0" anchor="ctr"/>
          <a:lstStyle/>
          <a:p>
            <a:pPr algn="r" indent="0" marL="0">
              <a:buNone/>
            </a:pPr>
            <a:r>
              <a:rPr lang="en-US" sz="900" dirty="0">
                <a:solidFill>
                  <a:srgbClr val="5E6B76"/>
                </a:solidFill>
                <a:latin typeface="Arial" pitchFamily="34" charset="0"/>
                <a:ea typeface="Arial" pitchFamily="34" charset="-122"/>
                <a:cs typeface="Arial" pitchFamily="34" charset="-120"/>
              </a:rPr>
              <a:t>2</a:t>
            </a:r>
            <a:endParaRPr lang="en-US" sz="900" dirty="0"/>
          </a:p>
        </p:txBody>
      </p:sp>
      <p:sp>
        <p:nvSpPr>
          <p:cNvPr id="4" name="Text 1"/>
          <p:cNvSpPr/>
          <p:nvPr/>
        </p:nvSpPr>
        <p:spPr>
          <a:xfrm>
            <a:off x="640080" y="566928"/>
            <a:ext cx="7863840" cy="274320"/>
          </a:xfrm>
          <a:prstGeom prst="rect">
            <a:avLst/>
          </a:prstGeom>
          <a:noFill/>
          <a:ln/>
        </p:spPr>
        <p:txBody>
          <a:bodyPr wrap="square" rtlCol="0" anchor="ctr"/>
          <a:lstStyle/>
          <a:p>
            <a:pPr indent="0" marL="0">
              <a:buNone/>
            </a:pPr>
            <a:r>
              <a:rPr lang="en-US" sz="1200" b="1" spc="400" kern="0" dirty="0">
                <a:solidFill>
                  <a:srgbClr val="F4581C"/>
                </a:solidFill>
                <a:latin typeface="Arial" pitchFamily="34" charset="0"/>
                <a:ea typeface="Arial" pitchFamily="34" charset="-122"/>
                <a:cs typeface="Arial" pitchFamily="34" charset="-120"/>
              </a:rPr>
              <a:t>LE PROBLÈME</a:t>
            </a:r>
            <a:endParaRPr lang="en-US" sz="1200" dirty="0"/>
          </a:p>
        </p:txBody>
      </p:sp>
      <p:sp>
        <p:nvSpPr>
          <p:cNvPr id="5" name="Text 2"/>
          <p:cNvSpPr/>
          <p:nvPr/>
        </p:nvSpPr>
        <p:spPr>
          <a:xfrm>
            <a:off x="640080" y="1234440"/>
            <a:ext cx="7863840" cy="1188720"/>
          </a:xfrm>
          <a:prstGeom prst="rect">
            <a:avLst/>
          </a:prstGeom>
          <a:noFill/>
          <a:ln/>
        </p:spPr>
        <p:txBody>
          <a:bodyPr wrap="square" rtlCol="0" anchor="ctr"/>
          <a:lstStyle/>
          <a:p>
            <a:pPr indent="0" marL="0">
              <a:lnSpc>
                <a:spcPts val="3800"/>
              </a:lnSpc>
              <a:buNone/>
            </a:pPr>
            <a:r>
              <a:rPr lang="en-US" sz="3300" b="1" dirty="0">
                <a:solidFill>
                  <a:srgbClr val="EEF4F2"/>
                </a:solidFill>
                <a:latin typeface="Arial" pitchFamily="34" charset="0"/>
                <a:ea typeface="Arial" pitchFamily="34" charset="-122"/>
                <a:cs typeface="Arial" pitchFamily="34" charset="-120"/>
              </a:rPr>
              <a:t>Des pièces aux caractéristiques</a:t>
            </a:r>
            <a:endParaRPr lang="en-US" sz="3300" dirty="0"/>
          </a:p>
          <a:p>
            <a:pPr indent="0" marL="0">
              <a:lnSpc>
                <a:spcPts val="3800"/>
              </a:lnSpc>
              <a:buNone/>
            </a:pPr>
            <a:r>
              <a:rPr lang="en-US" sz="3300" b="1" dirty="0">
                <a:solidFill>
                  <a:srgbClr val="EEF4F2"/>
                </a:solidFill>
                <a:latin typeface="Arial" pitchFamily="34" charset="0"/>
                <a:ea typeface="Arial" pitchFamily="34" charset="-122"/>
                <a:cs typeface="Arial" pitchFamily="34" charset="-120"/>
              </a:rPr>
              <a:t>très différentes</a:t>
            </a:r>
            <a:endParaRPr lang="en-US" sz="3300" dirty="0"/>
          </a:p>
        </p:txBody>
      </p:sp>
      <p:sp>
        <p:nvSpPr>
          <p:cNvPr id="6" name="Shape 3"/>
          <p:cNvSpPr/>
          <p:nvPr/>
        </p:nvSpPr>
        <p:spPr>
          <a:xfrm>
            <a:off x="1408176" y="3063240"/>
            <a:ext cx="841248" cy="841248"/>
          </a:xfrm>
          <a:prstGeom prst="ellipse">
            <a:avLst/>
          </a:prstGeom>
          <a:solidFill>
            <a:srgbClr val="F4581C"/>
          </a:solidFill>
          <a:ln/>
        </p:spPr>
      </p:sp>
      <p:pic>
        <p:nvPicPr>
          <p:cNvPr id="7" name="Image 0" descr="preencoded.png">    </p:cNvPr>
          <p:cNvPicPr>
            <a:picLocks noChangeAspect="1"/>
          </p:cNvPicPr>
          <p:nvPr/>
        </p:nvPicPr>
        <p:blipFill>
          <a:blip r:embed="rId1"/>
          <a:stretch>
            <a:fillRect/>
          </a:stretch>
        </p:blipFill>
        <p:spPr>
          <a:xfrm>
            <a:off x="1635313" y="3290377"/>
            <a:ext cx="386974" cy="386974"/>
          </a:xfrm>
          <a:prstGeom prst="rect">
            <a:avLst/>
          </a:prstGeom>
        </p:spPr>
      </p:pic>
      <p:sp>
        <p:nvSpPr>
          <p:cNvPr id="8" name="Text 4"/>
          <p:cNvSpPr/>
          <p:nvPr/>
        </p:nvSpPr>
        <p:spPr>
          <a:xfrm>
            <a:off x="365760" y="4069080"/>
            <a:ext cx="2926080" cy="365760"/>
          </a:xfrm>
          <a:prstGeom prst="rect">
            <a:avLst/>
          </a:prstGeom>
          <a:noFill/>
          <a:ln/>
        </p:spPr>
        <p:txBody>
          <a:bodyPr wrap="square" rtlCol="0" anchor="ctr"/>
          <a:lstStyle/>
          <a:p>
            <a:pPr algn="ctr" indent="0" marL="0">
              <a:buNone/>
            </a:pPr>
            <a:r>
              <a:rPr lang="en-US" sz="1700" b="1" dirty="0">
                <a:solidFill>
                  <a:srgbClr val="EEF4F2"/>
                </a:solidFill>
                <a:latin typeface="Arial" pitchFamily="34" charset="0"/>
                <a:ea typeface="Arial" pitchFamily="34" charset="-122"/>
                <a:cs typeface="Arial" pitchFamily="34" charset="-120"/>
              </a:rPr>
              <a:t>Freinage</a:t>
            </a:r>
            <a:endParaRPr lang="en-US" sz="1700" dirty="0"/>
          </a:p>
        </p:txBody>
      </p:sp>
      <p:sp>
        <p:nvSpPr>
          <p:cNvPr id="9" name="Text 5"/>
          <p:cNvSpPr/>
          <p:nvPr/>
        </p:nvSpPr>
        <p:spPr>
          <a:xfrm>
            <a:off x="365760" y="4471416"/>
            <a:ext cx="2926080" cy="502920"/>
          </a:xfrm>
          <a:prstGeom prst="rect">
            <a:avLst/>
          </a:prstGeom>
          <a:noFill/>
          <a:ln/>
        </p:spPr>
        <p:txBody>
          <a:bodyPr wrap="square" rtlCol="0" anchor="ctr"/>
          <a:lstStyle/>
          <a:p>
            <a:pPr algn="ctr" indent="0" marL="0">
              <a:buNone/>
            </a:pPr>
            <a:r>
              <a:rPr lang="en-US" sz="1150" dirty="0">
                <a:solidFill>
                  <a:srgbClr val="9FB4C7"/>
                </a:solidFill>
                <a:latin typeface="Arial" pitchFamily="34" charset="0"/>
                <a:ea typeface="Arial" pitchFamily="34" charset="-122"/>
                <a:cs typeface="Arial" pitchFamily="34" charset="-120"/>
              </a:rPr>
              <a:t>matière, position…</a:t>
            </a:r>
            <a:endParaRPr lang="en-US" sz="1150" dirty="0"/>
          </a:p>
        </p:txBody>
      </p:sp>
      <p:sp>
        <p:nvSpPr>
          <p:cNvPr id="10" name="Shape 6"/>
          <p:cNvSpPr/>
          <p:nvPr/>
        </p:nvSpPr>
        <p:spPr>
          <a:xfrm>
            <a:off x="4151376" y="3063240"/>
            <a:ext cx="841248" cy="841248"/>
          </a:xfrm>
          <a:prstGeom prst="ellipse">
            <a:avLst/>
          </a:prstGeom>
          <a:solidFill>
            <a:srgbClr val="F4581C"/>
          </a:solidFill>
          <a:ln/>
        </p:spPr>
      </p:sp>
      <p:pic>
        <p:nvPicPr>
          <p:cNvPr id="11" name="Image 1" descr="preencoded.png">    </p:cNvPr>
          <p:cNvPicPr>
            <a:picLocks noChangeAspect="1"/>
          </p:cNvPicPr>
          <p:nvPr/>
        </p:nvPicPr>
        <p:blipFill>
          <a:blip r:embed="rId2"/>
          <a:stretch>
            <a:fillRect/>
          </a:stretch>
        </p:blipFill>
        <p:spPr>
          <a:xfrm>
            <a:off x="4378513" y="3290377"/>
            <a:ext cx="386974" cy="386974"/>
          </a:xfrm>
          <a:prstGeom prst="rect">
            <a:avLst/>
          </a:prstGeom>
        </p:spPr>
      </p:pic>
      <p:sp>
        <p:nvSpPr>
          <p:cNvPr id="12" name="Text 7"/>
          <p:cNvSpPr/>
          <p:nvPr/>
        </p:nvSpPr>
        <p:spPr>
          <a:xfrm>
            <a:off x="3108960" y="4069080"/>
            <a:ext cx="2926080" cy="365760"/>
          </a:xfrm>
          <a:prstGeom prst="rect">
            <a:avLst/>
          </a:prstGeom>
          <a:noFill/>
          <a:ln/>
        </p:spPr>
        <p:txBody>
          <a:bodyPr wrap="square" rtlCol="0" anchor="ctr"/>
          <a:lstStyle/>
          <a:p>
            <a:pPr algn="ctr" indent="0" marL="0">
              <a:buNone/>
            </a:pPr>
            <a:r>
              <a:rPr lang="en-US" sz="1700" b="1" dirty="0">
                <a:solidFill>
                  <a:srgbClr val="EEF4F2"/>
                </a:solidFill>
                <a:latin typeface="Arial" pitchFamily="34" charset="0"/>
                <a:ea typeface="Arial" pitchFamily="34" charset="-122"/>
                <a:cs typeface="Arial" pitchFamily="34" charset="-120"/>
              </a:rPr>
              <a:t>Pneumatique</a:t>
            </a:r>
            <a:endParaRPr lang="en-US" sz="1700" dirty="0"/>
          </a:p>
        </p:txBody>
      </p:sp>
      <p:sp>
        <p:nvSpPr>
          <p:cNvPr id="13" name="Text 8"/>
          <p:cNvSpPr/>
          <p:nvPr/>
        </p:nvSpPr>
        <p:spPr>
          <a:xfrm>
            <a:off x="3108960" y="4471416"/>
            <a:ext cx="2926080" cy="502920"/>
          </a:xfrm>
          <a:prstGeom prst="rect">
            <a:avLst/>
          </a:prstGeom>
          <a:noFill/>
          <a:ln/>
        </p:spPr>
        <p:txBody>
          <a:bodyPr wrap="square" rtlCol="0" anchor="ctr"/>
          <a:lstStyle/>
          <a:p>
            <a:pPr algn="ctr" indent="0" marL="0">
              <a:buNone/>
            </a:pPr>
            <a:r>
              <a:rPr lang="en-US" sz="1150" dirty="0">
                <a:solidFill>
                  <a:srgbClr val="9FB4C7"/>
                </a:solidFill>
                <a:latin typeface="Arial" pitchFamily="34" charset="0"/>
                <a:ea typeface="Arial" pitchFamily="34" charset="-122"/>
                <a:cs typeface="Arial" pitchFamily="34" charset="-120"/>
              </a:rPr>
              <a:t>dimension, saison…</a:t>
            </a:r>
            <a:endParaRPr lang="en-US" sz="1150" dirty="0"/>
          </a:p>
        </p:txBody>
      </p:sp>
      <p:sp>
        <p:nvSpPr>
          <p:cNvPr id="14" name="Shape 9"/>
          <p:cNvSpPr/>
          <p:nvPr/>
        </p:nvSpPr>
        <p:spPr>
          <a:xfrm>
            <a:off x="6894576" y="3063240"/>
            <a:ext cx="841248" cy="841248"/>
          </a:xfrm>
          <a:prstGeom prst="ellipse">
            <a:avLst/>
          </a:prstGeom>
          <a:solidFill>
            <a:srgbClr val="F4581C"/>
          </a:solidFill>
          <a:ln/>
        </p:spPr>
      </p:sp>
      <p:pic>
        <p:nvPicPr>
          <p:cNvPr id="15" name="Image 2" descr="preencoded.png">    </p:cNvPr>
          <p:cNvPicPr>
            <a:picLocks noChangeAspect="1"/>
          </p:cNvPicPr>
          <p:nvPr/>
        </p:nvPicPr>
        <p:blipFill>
          <a:blip r:embed="rId3"/>
          <a:stretch>
            <a:fillRect/>
          </a:stretch>
        </p:blipFill>
        <p:spPr>
          <a:xfrm>
            <a:off x="7121713" y="3290377"/>
            <a:ext cx="386974" cy="386974"/>
          </a:xfrm>
          <a:prstGeom prst="rect">
            <a:avLst/>
          </a:prstGeom>
        </p:spPr>
      </p:pic>
      <p:sp>
        <p:nvSpPr>
          <p:cNvPr id="16" name="Text 10"/>
          <p:cNvSpPr/>
          <p:nvPr/>
        </p:nvSpPr>
        <p:spPr>
          <a:xfrm>
            <a:off x="5852160" y="4069080"/>
            <a:ext cx="2926080" cy="365760"/>
          </a:xfrm>
          <a:prstGeom prst="rect">
            <a:avLst/>
          </a:prstGeom>
          <a:noFill/>
          <a:ln/>
        </p:spPr>
        <p:txBody>
          <a:bodyPr wrap="square" rtlCol="0" anchor="ctr"/>
          <a:lstStyle/>
          <a:p>
            <a:pPr algn="ctr" indent="0" marL="0">
              <a:buNone/>
            </a:pPr>
            <a:r>
              <a:rPr lang="en-US" sz="1700" b="1" dirty="0">
                <a:solidFill>
                  <a:srgbClr val="EEF4F2"/>
                </a:solidFill>
                <a:latin typeface="Arial" pitchFamily="34" charset="0"/>
                <a:ea typeface="Arial" pitchFamily="34" charset="-122"/>
                <a:cs typeface="Arial" pitchFamily="34" charset="-120"/>
              </a:rPr>
              <a:t>Transmission</a:t>
            </a:r>
            <a:endParaRPr lang="en-US" sz="1700" dirty="0"/>
          </a:p>
        </p:txBody>
      </p:sp>
      <p:sp>
        <p:nvSpPr>
          <p:cNvPr id="17" name="Text 11"/>
          <p:cNvSpPr/>
          <p:nvPr/>
        </p:nvSpPr>
        <p:spPr>
          <a:xfrm>
            <a:off x="5852160" y="4471416"/>
            <a:ext cx="2926080" cy="502920"/>
          </a:xfrm>
          <a:prstGeom prst="rect">
            <a:avLst/>
          </a:prstGeom>
          <a:noFill/>
          <a:ln/>
        </p:spPr>
        <p:txBody>
          <a:bodyPr wrap="square" rtlCol="0" anchor="ctr"/>
          <a:lstStyle/>
          <a:p>
            <a:pPr algn="ctr" indent="0" marL="0">
              <a:buNone/>
            </a:pPr>
            <a:r>
              <a:rPr lang="en-US" sz="1150" dirty="0">
                <a:solidFill>
                  <a:srgbClr val="9FB4C7"/>
                </a:solidFill>
                <a:latin typeface="Arial" pitchFamily="34" charset="0"/>
                <a:ea typeface="Arial" pitchFamily="34" charset="-122"/>
                <a:cs typeface="Arial" pitchFamily="34" charset="-120"/>
              </a:rPr>
              <a:t>pas, maillons…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51B"/>
        </a:solidFill>
      </p:bgPr>
    </p:bg>
    <p:spTree>
      <p:nvGrpSpPr>
        <p:cNvPr id="1" name=""/>
        <p:cNvGrpSpPr/>
        <p:nvPr/>
      </p:nvGrpSpPr>
      <p:grpSpPr>
        <a:xfrm>
          <a:off x="0" y="0"/>
          <a:ext cx="0" cy="0"/>
          <a:chOff x="0" y="0"/>
          <a:chExt cx="0" cy="0"/>
        </a:xfrm>
      </p:grpSpPr>
      <p:sp>
        <p:nvSpPr>
          <p:cNvPr id="2" name="Text 0"/>
          <p:cNvSpPr/>
          <p:nvPr/>
        </p:nvSpPr>
        <p:spPr>
          <a:xfrm>
            <a:off x="8412480" y="4828032"/>
            <a:ext cx="457200" cy="228600"/>
          </a:xfrm>
          <a:prstGeom prst="rect">
            <a:avLst/>
          </a:prstGeom>
          <a:noFill/>
          <a:ln/>
        </p:spPr>
        <p:txBody>
          <a:bodyPr wrap="square" rtlCol="0" anchor="ctr"/>
          <a:lstStyle/>
          <a:p>
            <a:pPr algn="r" indent="0" marL="0">
              <a:buNone/>
            </a:pPr>
            <a:r>
              <a:rPr lang="en-US" sz="900" dirty="0">
                <a:solidFill>
                  <a:srgbClr val="5E6B76"/>
                </a:solidFill>
                <a:latin typeface="Arial" pitchFamily="34" charset="0"/>
                <a:ea typeface="Arial" pitchFamily="34" charset="-122"/>
                <a:cs typeface="Arial" pitchFamily="34" charset="-120"/>
              </a:rPr>
              <a:t>3</a:t>
            </a:r>
            <a:endParaRPr lang="en-US" sz="900" dirty="0"/>
          </a:p>
        </p:txBody>
      </p:sp>
      <p:sp>
        <p:nvSpPr>
          <p:cNvPr id="4" name="Shape 1"/>
          <p:cNvSpPr/>
          <p:nvPr/>
        </p:nvSpPr>
        <p:spPr>
          <a:xfrm>
            <a:off x="4114800" y="868680"/>
            <a:ext cx="868680" cy="868680"/>
          </a:xfrm>
          <a:prstGeom prst="ellipse">
            <a:avLst/>
          </a:prstGeom>
          <a:solidFill>
            <a:srgbClr val="F4581C"/>
          </a:solidFill>
          <a:ln/>
        </p:spPr>
      </p:sp>
      <p:pic>
        <p:nvPicPr>
          <p:cNvPr id="5" name="Image 0" descr="preencoded.png">    </p:cNvPr>
          <p:cNvPicPr>
            <a:picLocks noChangeAspect="1"/>
          </p:cNvPicPr>
          <p:nvPr/>
        </p:nvPicPr>
        <p:blipFill>
          <a:blip r:embed="rId1"/>
          <a:stretch>
            <a:fillRect/>
          </a:stretch>
        </p:blipFill>
        <p:spPr>
          <a:xfrm>
            <a:off x="4349344" y="1103224"/>
            <a:ext cx="399593" cy="399593"/>
          </a:xfrm>
          <a:prstGeom prst="rect">
            <a:avLst/>
          </a:prstGeom>
        </p:spPr>
      </p:pic>
      <p:sp>
        <p:nvSpPr>
          <p:cNvPr id="6" name="Text 2"/>
          <p:cNvSpPr/>
          <p:nvPr/>
        </p:nvSpPr>
        <p:spPr>
          <a:xfrm>
            <a:off x="457200" y="2103120"/>
            <a:ext cx="8229600" cy="685800"/>
          </a:xfrm>
          <a:prstGeom prst="rect">
            <a:avLst/>
          </a:prstGeom>
          <a:noFill/>
          <a:ln/>
        </p:spPr>
        <p:txBody>
          <a:bodyPr wrap="square" rtlCol="0" anchor="ctr"/>
          <a:lstStyle/>
          <a:p>
            <a:pPr algn="ctr" indent="0" marL="0">
              <a:buNone/>
            </a:pPr>
            <a:r>
              <a:rPr lang="en-US" sz="3600" b="1" dirty="0">
                <a:solidFill>
                  <a:srgbClr val="EEF4F2"/>
                </a:solidFill>
                <a:latin typeface="Arial" pitchFamily="34" charset="0"/>
                <a:ea typeface="Arial" pitchFamily="34" charset="-122"/>
                <a:cs typeface="Arial" pitchFamily="34" charset="-120"/>
              </a:rPr>
              <a:t>Le modèle document</a:t>
            </a:r>
            <a:endParaRPr lang="en-US" sz="3600" dirty="0"/>
          </a:p>
        </p:txBody>
      </p:sp>
      <p:sp>
        <p:nvSpPr>
          <p:cNvPr id="7" name="Text 3"/>
          <p:cNvSpPr/>
          <p:nvPr/>
        </p:nvSpPr>
        <p:spPr>
          <a:xfrm>
            <a:off x="457200" y="2971800"/>
            <a:ext cx="8229600" cy="365760"/>
          </a:xfrm>
          <a:prstGeom prst="rect">
            <a:avLst/>
          </a:prstGeom>
          <a:noFill/>
          <a:ln/>
        </p:spPr>
        <p:txBody>
          <a:bodyPr wrap="square" rtlCol="0" anchor="ctr"/>
          <a:lstStyle/>
          <a:p>
            <a:pPr algn="ctr" indent="0" marL="0">
              <a:buNone/>
            </a:pPr>
            <a:r>
              <a:rPr lang="en-US" sz="1600" b="1" dirty="0">
                <a:solidFill>
                  <a:srgbClr val="EEF4F2"/>
                </a:solidFill>
                <a:latin typeface="Arial" pitchFamily="34" charset="0"/>
                <a:ea typeface="Arial" pitchFamily="34" charset="-122"/>
                <a:cs typeface="Arial" pitchFamily="34" charset="-120"/>
              </a:rPr>
              <a:t>Un document = un objet JSON.</a:t>
            </a:r>
            <a:pPr algn="ctr" indent="0" marL="0">
              <a:buNone/>
            </a:pPr>
            <a:r>
              <a:rPr lang="en-US" sz="1600" dirty="0">
                <a:solidFill>
                  <a:srgbClr val="9FB4C7"/>
                </a:solidFill>
                <a:latin typeface="Arial" pitchFamily="34" charset="0"/>
                <a:ea typeface="Arial" pitchFamily="34" charset="-122"/>
                <a:cs typeface="Arial" pitchFamily="34" charset="-120"/>
              </a:rPr>
              <a:t>   Schéma libre, sans jointure.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51B"/>
        </a:solidFill>
      </p:bgPr>
    </p:bg>
    <p:spTree>
      <p:nvGrpSpPr>
        <p:cNvPr id="1" name=""/>
        <p:cNvGrpSpPr/>
        <p:nvPr/>
      </p:nvGrpSpPr>
      <p:grpSpPr>
        <a:xfrm>
          <a:off x="0" y="0"/>
          <a:ext cx="0" cy="0"/>
          <a:chOff x="0" y="0"/>
          <a:chExt cx="0" cy="0"/>
        </a:xfrm>
      </p:grpSpPr>
      <p:sp>
        <p:nvSpPr>
          <p:cNvPr id="2" name="Text 0"/>
          <p:cNvSpPr/>
          <p:nvPr/>
        </p:nvSpPr>
        <p:spPr>
          <a:xfrm>
            <a:off x="8412480" y="4828032"/>
            <a:ext cx="457200" cy="228600"/>
          </a:xfrm>
          <a:prstGeom prst="rect">
            <a:avLst/>
          </a:prstGeom>
          <a:noFill/>
          <a:ln/>
        </p:spPr>
        <p:txBody>
          <a:bodyPr wrap="square" rtlCol="0" anchor="ctr"/>
          <a:lstStyle/>
          <a:p>
            <a:pPr algn="r" indent="0" marL="0">
              <a:buNone/>
            </a:pPr>
            <a:r>
              <a:rPr lang="en-US" sz="900" dirty="0">
                <a:solidFill>
                  <a:srgbClr val="5E6B76"/>
                </a:solidFill>
                <a:latin typeface="Arial" pitchFamily="34" charset="0"/>
                <a:ea typeface="Arial" pitchFamily="34" charset="-122"/>
                <a:cs typeface="Arial" pitchFamily="34" charset="-120"/>
              </a:rPr>
              <a:t>4</a:t>
            </a:r>
            <a:endParaRPr lang="en-US" sz="900" dirty="0"/>
          </a:p>
        </p:txBody>
      </p:sp>
      <p:sp>
        <p:nvSpPr>
          <p:cNvPr id="4" name="Text 1"/>
          <p:cNvSpPr/>
          <p:nvPr/>
        </p:nvSpPr>
        <p:spPr>
          <a:xfrm>
            <a:off x="640080" y="566928"/>
            <a:ext cx="7863840" cy="274320"/>
          </a:xfrm>
          <a:prstGeom prst="rect">
            <a:avLst/>
          </a:prstGeom>
          <a:noFill/>
          <a:ln/>
        </p:spPr>
        <p:txBody>
          <a:bodyPr wrap="square" rtlCol="0" anchor="ctr"/>
          <a:lstStyle/>
          <a:p>
            <a:pPr indent="0" marL="0">
              <a:buNone/>
            </a:pPr>
            <a:r>
              <a:rPr lang="en-US" sz="1200" b="1" spc="400" kern="0" dirty="0">
                <a:solidFill>
                  <a:srgbClr val="F4581C"/>
                </a:solidFill>
                <a:latin typeface="Arial" pitchFamily="34" charset="0"/>
                <a:ea typeface="Arial" pitchFamily="34" charset="-122"/>
                <a:cs typeface="Arial" pitchFamily="34" charset="-120"/>
              </a:rPr>
              <a:t>LE MODÈLE DE DONNÉES</a:t>
            </a:r>
            <a:endParaRPr lang="en-US" sz="1200" dirty="0"/>
          </a:p>
        </p:txBody>
      </p:sp>
      <p:sp>
        <p:nvSpPr>
          <p:cNvPr id="5" name="Text 2"/>
          <p:cNvSpPr/>
          <p:nvPr/>
        </p:nvSpPr>
        <p:spPr>
          <a:xfrm>
            <a:off x="640080" y="841248"/>
            <a:ext cx="7863840" cy="502920"/>
          </a:xfrm>
          <a:prstGeom prst="rect">
            <a:avLst/>
          </a:prstGeom>
          <a:noFill/>
          <a:ln/>
        </p:spPr>
        <p:txBody>
          <a:bodyPr wrap="square" rtlCol="0" anchor="ctr"/>
          <a:lstStyle/>
          <a:p>
            <a:pPr indent="0" marL="0">
              <a:buNone/>
            </a:pPr>
            <a:r>
              <a:rPr lang="en-US" sz="2600" b="1" dirty="0">
                <a:solidFill>
                  <a:srgbClr val="EEF4F2"/>
                </a:solidFill>
                <a:latin typeface="Arial" pitchFamily="34" charset="0"/>
                <a:ea typeface="Arial" pitchFamily="34" charset="-122"/>
                <a:cs typeface="Arial" pitchFamily="34" charset="-120"/>
              </a:rPr>
              <a:t>Une collection « produits »</a:t>
            </a:r>
            <a:endParaRPr lang="en-US" sz="2600" dirty="0"/>
          </a:p>
        </p:txBody>
      </p:sp>
      <p:sp>
        <p:nvSpPr>
          <p:cNvPr id="6" name="Shape 3"/>
          <p:cNvSpPr/>
          <p:nvPr/>
        </p:nvSpPr>
        <p:spPr>
          <a:xfrm>
            <a:off x="1371600" y="1554480"/>
            <a:ext cx="6400800" cy="2788920"/>
          </a:xfrm>
          <a:prstGeom prst="roundRect">
            <a:avLst>
              <a:gd name="adj" fmla="val 1311"/>
            </a:avLst>
          </a:prstGeom>
          <a:solidFill>
            <a:srgbClr val="0A0F14"/>
          </a:solidFill>
          <a:ln w="9525">
            <a:solidFill>
              <a:srgbClr val="2A3640"/>
            </a:solidFill>
            <a:prstDash val="solid"/>
          </a:ln>
        </p:spPr>
      </p:sp>
      <p:sp>
        <p:nvSpPr>
          <p:cNvPr id="7" name="Text 4"/>
          <p:cNvSpPr/>
          <p:nvPr/>
        </p:nvSpPr>
        <p:spPr>
          <a:xfrm>
            <a:off x="1600200" y="1755648"/>
            <a:ext cx="5943600" cy="2377440"/>
          </a:xfrm>
          <a:prstGeom prst="rect">
            <a:avLst/>
          </a:prstGeom>
          <a:noFill/>
          <a:ln/>
        </p:spPr>
        <p:txBody>
          <a:bodyPr wrap="square" rtlCol="0" anchor="t"/>
          <a:lstStyle/>
          <a:p>
            <a:pPr indent="0" marL="0">
              <a:lnSpc>
                <a:spcPts val="1900"/>
              </a:lnSpc>
              <a:buNone/>
            </a:pPr>
            <a:r>
              <a:rPr lang="en-US" sz="1150" dirty="0">
                <a:solidFill>
                  <a:srgbClr val="C8D6DF"/>
                </a:solidFill>
                <a:latin typeface="Courier New" pitchFamily="34" charset="0"/>
                <a:ea typeface="Courier New" pitchFamily="34" charset="-122"/>
                <a:cs typeface="Courier New" pitchFamily="34" charset="-120"/>
              </a:rPr>
              <a:t>{</a:t>
            </a:r>
            <a:endParaRPr lang="en-US" sz="1150" dirty="0"/>
          </a:p>
          <a:p>
            <a:pPr indent="0" marL="0">
              <a:lnSpc>
                <a:spcPts val="1900"/>
              </a:lnSpc>
              <a:buNone/>
            </a:pPr>
            <a:r>
              <a:rPr lang="en-US" sz="1150" dirty="0">
                <a:solidFill>
                  <a:srgbClr val="C8D6DF"/>
                </a:solidFill>
                <a:latin typeface="Courier New" pitchFamily="34" charset="0"/>
                <a:ea typeface="Courier New" pitchFamily="34" charset="-122"/>
                <a:cs typeface="Courier New" pitchFamily="34" charset="-120"/>
              </a:rPr>
              <a:t>  "nom": "Plaquettes de frein avant",</a:t>
            </a:r>
            <a:endParaRPr lang="en-US" sz="1150" dirty="0"/>
          </a:p>
          <a:p>
            <a:pPr indent="0" marL="0">
              <a:lnSpc>
                <a:spcPts val="1900"/>
              </a:lnSpc>
              <a:buNone/>
            </a:pPr>
            <a:r>
              <a:rPr lang="en-US" sz="1150" dirty="0">
                <a:solidFill>
                  <a:srgbClr val="C8D6DF"/>
                </a:solidFill>
                <a:latin typeface="Courier New" pitchFamily="34" charset="0"/>
                <a:ea typeface="Courier New" pitchFamily="34" charset="-122"/>
                <a:cs typeface="Courier New" pitchFamily="34" charset="-120"/>
              </a:rPr>
              <a:t>  "categorie": "Freinage",</a:t>
            </a:r>
            <a:endParaRPr lang="en-US" sz="1150" dirty="0"/>
          </a:p>
          <a:p>
            <a:pPr indent="0" marL="0">
              <a:lnSpc>
                <a:spcPts val="1900"/>
              </a:lnSpc>
              <a:buNone/>
            </a:pPr>
            <a:r>
              <a:rPr lang="en-US" sz="1150" dirty="0">
                <a:solidFill>
                  <a:srgbClr val="C8D6DF"/>
                </a:solidFill>
                <a:latin typeface="Courier New" pitchFamily="34" charset="0"/>
                <a:ea typeface="Courier New" pitchFamily="34" charset="-122"/>
                <a:cs typeface="Courier New" pitchFamily="34" charset="-120"/>
              </a:rPr>
              <a:t>  "marque": "Brembo",</a:t>
            </a:r>
            <a:endParaRPr lang="en-US" sz="1150" dirty="0"/>
          </a:p>
          <a:p>
            <a:pPr indent="0" marL="0">
              <a:lnSpc>
                <a:spcPts val="1900"/>
              </a:lnSpc>
              <a:buNone/>
            </a:pPr>
            <a:r>
              <a:rPr lang="en-US" sz="1150" dirty="0">
                <a:solidFill>
                  <a:srgbClr val="C8D6DF"/>
                </a:solidFill>
                <a:latin typeface="Courier New" pitchFamily="34" charset="0"/>
                <a:ea typeface="Courier New" pitchFamily="34" charset="-122"/>
                <a:cs typeface="Courier New" pitchFamily="34" charset="-120"/>
              </a:rPr>
              <a:t>  "prix": 39.90,</a:t>
            </a:r>
            <a:endParaRPr lang="en-US" sz="1150" dirty="0"/>
          </a:p>
          <a:p>
            <a:pPr indent="0" marL="0">
              <a:lnSpc>
                <a:spcPts val="1900"/>
              </a:lnSpc>
              <a:buNone/>
            </a:pPr>
            <a:r>
              <a:rPr lang="en-US" sz="1150" dirty="0">
                <a:solidFill>
                  <a:srgbClr val="C8D6DF"/>
                </a:solidFill>
                <a:latin typeface="Courier New" pitchFamily="34" charset="0"/>
                <a:ea typeface="Courier New" pitchFamily="34" charset="-122"/>
                <a:cs typeface="Courier New" pitchFamily="34" charset="-120"/>
              </a:rPr>
              <a:t>  "image": "https://.../plaquettes.jpg",</a:t>
            </a:r>
            <a:endParaRPr lang="en-US" sz="1150" dirty="0"/>
          </a:p>
          <a:p>
            <a:pPr indent="0" marL="0">
              <a:lnSpc>
                <a:spcPts val="1900"/>
              </a:lnSpc>
              <a:buNone/>
            </a:pPr>
            <a:r>
              <a:rPr lang="en-US" sz="1150" dirty="0">
                <a:solidFill>
                  <a:srgbClr val="C8D6DF"/>
                </a:solidFill>
                <a:latin typeface="Courier New" pitchFamily="34" charset="0"/>
                <a:ea typeface="Courier New" pitchFamily="34" charset="-122"/>
                <a:cs typeface="Courier New" pitchFamily="34" charset="-120"/>
              </a:rPr>
              <a:t>  "attributs": {            // varie selon la catégorie</a:t>
            </a:r>
            <a:endParaRPr lang="en-US" sz="1150" dirty="0"/>
          </a:p>
          <a:p>
            <a:pPr indent="0" marL="0">
              <a:lnSpc>
                <a:spcPts val="1900"/>
              </a:lnSpc>
              <a:buNone/>
            </a:pPr>
            <a:r>
              <a:rPr lang="en-US" sz="1150" dirty="0">
                <a:solidFill>
                  <a:srgbClr val="C8D6DF"/>
                </a:solidFill>
                <a:latin typeface="Courier New" pitchFamily="34" charset="0"/>
                <a:ea typeface="Courier New" pitchFamily="34" charset="-122"/>
                <a:cs typeface="Courier New" pitchFamily="34" charset="-120"/>
              </a:rPr>
              <a:t>    "matiere": "céramique", "position": "avant"</a:t>
            </a:r>
            <a:endParaRPr lang="en-US" sz="1150" dirty="0"/>
          </a:p>
          <a:p>
            <a:pPr indent="0" marL="0">
              <a:lnSpc>
                <a:spcPts val="1900"/>
              </a:lnSpc>
              <a:buNone/>
            </a:pPr>
            <a:r>
              <a:rPr lang="en-US" sz="1150" dirty="0">
                <a:solidFill>
                  <a:srgbClr val="C8D6DF"/>
                </a:solidFill>
                <a:latin typeface="Courier New" pitchFamily="34" charset="0"/>
                <a:ea typeface="Courier New" pitchFamily="34" charset="-122"/>
                <a:cs typeface="Courier New" pitchFamily="34" charset="-120"/>
              </a:rPr>
              <a:t>  },</a:t>
            </a:r>
            <a:endParaRPr lang="en-US" sz="1150" dirty="0"/>
          </a:p>
          <a:p>
            <a:pPr indent="0" marL="0">
              <a:lnSpc>
                <a:spcPts val="1900"/>
              </a:lnSpc>
              <a:buNone/>
            </a:pPr>
            <a:r>
              <a:rPr lang="en-US" sz="1150" dirty="0">
                <a:solidFill>
                  <a:srgbClr val="C8D6DF"/>
                </a:solidFill>
                <a:latin typeface="Courier New" pitchFamily="34" charset="0"/>
                <a:ea typeface="Courier New" pitchFamily="34" charset="-122"/>
                <a:cs typeface="Courier New" pitchFamily="34" charset="-120"/>
              </a:rPr>
              <a:t>  "compatibilites": ["Yamaha MT-07", "Honda CB650R"]</a:t>
            </a:r>
            <a:endParaRPr lang="en-US" sz="1150" dirty="0"/>
          </a:p>
          <a:p>
            <a:pPr indent="0" marL="0">
              <a:lnSpc>
                <a:spcPts val="1900"/>
              </a:lnSpc>
              <a:buNone/>
            </a:pPr>
            <a:r>
              <a:rPr lang="en-US" sz="1150" dirty="0">
                <a:solidFill>
                  <a:srgbClr val="C8D6DF"/>
                </a:solidFill>
                <a:latin typeface="Courier New" pitchFamily="34" charset="0"/>
                <a:ea typeface="Courier New" pitchFamily="34" charset="-122"/>
                <a:cs typeface="Courier New" pitchFamily="34" charset="-120"/>
              </a:rPr>
              <a: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51B"/>
        </a:solidFill>
      </p:bgPr>
    </p:bg>
    <p:spTree>
      <p:nvGrpSpPr>
        <p:cNvPr id="1" name=""/>
        <p:cNvGrpSpPr/>
        <p:nvPr/>
      </p:nvGrpSpPr>
      <p:grpSpPr>
        <a:xfrm>
          <a:off x="0" y="0"/>
          <a:ext cx="0" cy="0"/>
          <a:chOff x="0" y="0"/>
          <a:chExt cx="0" cy="0"/>
        </a:xfrm>
      </p:grpSpPr>
      <p:sp>
        <p:nvSpPr>
          <p:cNvPr id="2" name="Text 0"/>
          <p:cNvSpPr/>
          <p:nvPr/>
        </p:nvSpPr>
        <p:spPr>
          <a:xfrm>
            <a:off x="8412480" y="4828032"/>
            <a:ext cx="457200" cy="228600"/>
          </a:xfrm>
          <a:prstGeom prst="rect">
            <a:avLst/>
          </a:prstGeom>
          <a:noFill/>
          <a:ln/>
        </p:spPr>
        <p:txBody>
          <a:bodyPr wrap="square" rtlCol="0" anchor="ctr"/>
          <a:lstStyle/>
          <a:p>
            <a:pPr algn="r" indent="0" marL="0">
              <a:buNone/>
            </a:pPr>
            <a:r>
              <a:rPr lang="en-US" sz="900" dirty="0">
                <a:solidFill>
                  <a:srgbClr val="5E6B76"/>
                </a:solidFill>
                <a:latin typeface="Arial" pitchFamily="34" charset="0"/>
                <a:ea typeface="Arial" pitchFamily="34" charset="-122"/>
                <a:cs typeface="Arial" pitchFamily="34" charset="-120"/>
              </a:rPr>
              <a:t>5</a:t>
            </a:r>
            <a:endParaRPr lang="en-US" sz="900" dirty="0"/>
          </a:p>
        </p:txBody>
      </p:sp>
      <p:sp>
        <p:nvSpPr>
          <p:cNvPr id="4" name="Text 1"/>
          <p:cNvSpPr/>
          <p:nvPr/>
        </p:nvSpPr>
        <p:spPr>
          <a:xfrm>
            <a:off x="640080" y="566928"/>
            <a:ext cx="7863840" cy="274320"/>
          </a:xfrm>
          <a:prstGeom prst="rect">
            <a:avLst/>
          </a:prstGeom>
          <a:noFill/>
          <a:ln/>
        </p:spPr>
        <p:txBody>
          <a:bodyPr wrap="square" rtlCol="0" anchor="ctr"/>
          <a:lstStyle/>
          <a:p>
            <a:pPr indent="0" marL="0">
              <a:buNone/>
            </a:pPr>
            <a:r>
              <a:rPr lang="en-US" sz="1200" b="1" spc="400" kern="0" dirty="0">
                <a:solidFill>
                  <a:srgbClr val="F4581C"/>
                </a:solidFill>
                <a:latin typeface="Arial" pitchFamily="34" charset="0"/>
                <a:ea typeface="Arial" pitchFamily="34" charset="-122"/>
                <a:cs typeface="Arial" pitchFamily="34" charset="-120"/>
              </a:rPr>
              <a:t>LA STACK</a:t>
            </a:r>
            <a:endParaRPr lang="en-US" sz="1200" dirty="0"/>
          </a:p>
        </p:txBody>
      </p:sp>
      <p:sp>
        <p:nvSpPr>
          <p:cNvPr id="5" name="Text 2"/>
          <p:cNvSpPr/>
          <p:nvPr/>
        </p:nvSpPr>
        <p:spPr>
          <a:xfrm>
            <a:off x="640080" y="841248"/>
            <a:ext cx="7863840" cy="502920"/>
          </a:xfrm>
          <a:prstGeom prst="rect">
            <a:avLst/>
          </a:prstGeom>
          <a:noFill/>
          <a:ln/>
        </p:spPr>
        <p:txBody>
          <a:bodyPr wrap="square" rtlCol="0" anchor="ctr"/>
          <a:lstStyle/>
          <a:p>
            <a:pPr indent="0" marL="0">
              <a:buNone/>
            </a:pPr>
            <a:r>
              <a:rPr lang="en-US" sz="2600" b="1" dirty="0">
                <a:solidFill>
                  <a:srgbClr val="EEF4F2"/>
                </a:solidFill>
                <a:latin typeface="Arial" pitchFamily="34" charset="0"/>
                <a:ea typeface="Arial" pitchFamily="34" charset="-122"/>
                <a:cs typeface="Arial" pitchFamily="34" charset="-120"/>
              </a:rPr>
              <a:t>Trois briques, zéro build</a:t>
            </a:r>
            <a:endParaRPr lang="en-US" sz="2600" dirty="0"/>
          </a:p>
        </p:txBody>
      </p:sp>
      <p:sp>
        <p:nvSpPr>
          <p:cNvPr id="6" name="Shape 3"/>
          <p:cNvSpPr/>
          <p:nvPr/>
        </p:nvSpPr>
        <p:spPr>
          <a:xfrm>
            <a:off x="1408176" y="1965960"/>
            <a:ext cx="841248" cy="841248"/>
          </a:xfrm>
          <a:prstGeom prst="ellipse">
            <a:avLst/>
          </a:prstGeom>
          <a:solidFill>
            <a:srgbClr val="F4581C"/>
          </a:solidFill>
          <a:ln/>
        </p:spPr>
      </p:sp>
      <p:pic>
        <p:nvPicPr>
          <p:cNvPr id="7" name="Image 0" descr="preencoded.png">    </p:cNvPr>
          <p:cNvPicPr>
            <a:picLocks noChangeAspect="1"/>
          </p:cNvPicPr>
          <p:nvPr/>
        </p:nvPicPr>
        <p:blipFill>
          <a:blip r:embed="rId1"/>
          <a:stretch>
            <a:fillRect/>
          </a:stretch>
        </p:blipFill>
        <p:spPr>
          <a:xfrm>
            <a:off x="1635313" y="2193097"/>
            <a:ext cx="386974" cy="386974"/>
          </a:xfrm>
          <a:prstGeom prst="rect">
            <a:avLst/>
          </a:prstGeom>
        </p:spPr>
      </p:pic>
      <p:sp>
        <p:nvSpPr>
          <p:cNvPr id="8" name="Text 4"/>
          <p:cNvSpPr/>
          <p:nvPr/>
        </p:nvSpPr>
        <p:spPr>
          <a:xfrm>
            <a:off x="365760" y="2971800"/>
            <a:ext cx="2926080" cy="365760"/>
          </a:xfrm>
          <a:prstGeom prst="rect">
            <a:avLst/>
          </a:prstGeom>
          <a:noFill/>
          <a:ln/>
        </p:spPr>
        <p:txBody>
          <a:bodyPr wrap="square" rtlCol="0" anchor="ctr"/>
          <a:lstStyle/>
          <a:p>
            <a:pPr algn="ctr" indent="0" marL="0">
              <a:buNone/>
            </a:pPr>
            <a:r>
              <a:rPr lang="en-US" sz="1700" b="1" dirty="0">
                <a:solidFill>
                  <a:srgbClr val="EEF4F2"/>
                </a:solidFill>
                <a:latin typeface="Arial" pitchFamily="34" charset="0"/>
                <a:ea typeface="Arial" pitchFamily="34" charset="-122"/>
                <a:cs typeface="Arial" pitchFamily="34" charset="-120"/>
              </a:rPr>
              <a:t>Firestore</a:t>
            </a:r>
            <a:endParaRPr lang="en-US" sz="1700" dirty="0"/>
          </a:p>
        </p:txBody>
      </p:sp>
      <p:sp>
        <p:nvSpPr>
          <p:cNvPr id="9" name="Text 5"/>
          <p:cNvSpPr/>
          <p:nvPr/>
        </p:nvSpPr>
        <p:spPr>
          <a:xfrm>
            <a:off x="365760" y="3374136"/>
            <a:ext cx="2926080" cy="502920"/>
          </a:xfrm>
          <a:prstGeom prst="rect">
            <a:avLst/>
          </a:prstGeom>
          <a:noFill/>
          <a:ln/>
        </p:spPr>
        <p:txBody>
          <a:bodyPr wrap="square" rtlCol="0" anchor="ctr"/>
          <a:lstStyle/>
          <a:p>
            <a:pPr algn="ctr" indent="0" marL="0">
              <a:buNone/>
            </a:pPr>
            <a:r>
              <a:rPr lang="en-US" sz="1150" dirty="0">
                <a:solidFill>
                  <a:srgbClr val="9FB4C7"/>
                </a:solidFill>
                <a:latin typeface="Arial" pitchFamily="34" charset="0"/>
                <a:ea typeface="Arial" pitchFamily="34" charset="-122"/>
                <a:cs typeface="Arial" pitchFamily="34" charset="-120"/>
              </a:rPr>
              <a:t>la base NoSQL</a:t>
            </a:r>
            <a:endParaRPr lang="en-US" sz="1150" dirty="0"/>
          </a:p>
        </p:txBody>
      </p:sp>
      <p:sp>
        <p:nvSpPr>
          <p:cNvPr id="10" name="Shape 6"/>
          <p:cNvSpPr/>
          <p:nvPr/>
        </p:nvSpPr>
        <p:spPr>
          <a:xfrm>
            <a:off x="4151376" y="1965960"/>
            <a:ext cx="841248" cy="841248"/>
          </a:xfrm>
          <a:prstGeom prst="ellipse">
            <a:avLst/>
          </a:prstGeom>
          <a:solidFill>
            <a:srgbClr val="F4581C"/>
          </a:solidFill>
          <a:ln/>
        </p:spPr>
      </p:sp>
      <p:pic>
        <p:nvPicPr>
          <p:cNvPr id="11" name="Image 1" descr="preencoded.png">    </p:cNvPr>
          <p:cNvPicPr>
            <a:picLocks noChangeAspect="1"/>
          </p:cNvPicPr>
          <p:nvPr/>
        </p:nvPicPr>
        <p:blipFill>
          <a:blip r:embed="rId2"/>
          <a:stretch>
            <a:fillRect/>
          </a:stretch>
        </p:blipFill>
        <p:spPr>
          <a:xfrm>
            <a:off x="4378513" y="2193097"/>
            <a:ext cx="386974" cy="386974"/>
          </a:xfrm>
          <a:prstGeom prst="rect">
            <a:avLst/>
          </a:prstGeom>
        </p:spPr>
      </p:pic>
      <p:sp>
        <p:nvSpPr>
          <p:cNvPr id="12" name="Text 7"/>
          <p:cNvSpPr/>
          <p:nvPr/>
        </p:nvSpPr>
        <p:spPr>
          <a:xfrm>
            <a:off x="3108960" y="2971800"/>
            <a:ext cx="2926080" cy="365760"/>
          </a:xfrm>
          <a:prstGeom prst="rect">
            <a:avLst/>
          </a:prstGeom>
          <a:noFill/>
          <a:ln/>
        </p:spPr>
        <p:txBody>
          <a:bodyPr wrap="square" rtlCol="0" anchor="ctr"/>
          <a:lstStyle/>
          <a:p>
            <a:pPr algn="ctr" indent="0" marL="0">
              <a:buNone/>
            </a:pPr>
            <a:r>
              <a:rPr lang="en-US" sz="1700" b="1" dirty="0">
                <a:solidFill>
                  <a:srgbClr val="EEF4F2"/>
                </a:solidFill>
                <a:latin typeface="Arial" pitchFamily="34" charset="0"/>
                <a:ea typeface="Arial" pitchFamily="34" charset="-122"/>
                <a:cs typeface="Arial" pitchFamily="34" charset="-120"/>
              </a:rPr>
              <a:t>HTML·CSS·JS</a:t>
            </a:r>
            <a:endParaRPr lang="en-US" sz="1700" dirty="0"/>
          </a:p>
        </p:txBody>
      </p:sp>
      <p:sp>
        <p:nvSpPr>
          <p:cNvPr id="13" name="Text 8"/>
          <p:cNvSpPr/>
          <p:nvPr/>
        </p:nvSpPr>
        <p:spPr>
          <a:xfrm>
            <a:off x="3108960" y="3374136"/>
            <a:ext cx="2926080" cy="502920"/>
          </a:xfrm>
          <a:prstGeom prst="rect">
            <a:avLst/>
          </a:prstGeom>
          <a:noFill/>
          <a:ln/>
        </p:spPr>
        <p:txBody>
          <a:bodyPr wrap="square" rtlCol="0" anchor="ctr"/>
          <a:lstStyle/>
          <a:p>
            <a:pPr algn="ctr" indent="0" marL="0">
              <a:buNone/>
            </a:pPr>
            <a:r>
              <a:rPr lang="en-US" sz="1150" dirty="0">
                <a:solidFill>
                  <a:srgbClr val="9FB4C7"/>
                </a:solidFill>
                <a:latin typeface="Arial" pitchFamily="34" charset="0"/>
                <a:ea typeface="Arial" pitchFamily="34" charset="-122"/>
                <a:cs typeface="Arial" pitchFamily="34" charset="-120"/>
              </a:rPr>
              <a:t>front + SDK via CDN</a:t>
            </a:r>
            <a:endParaRPr lang="en-US" sz="1150" dirty="0"/>
          </a:p>
        </p:txBody>
      </p:sp>
      <p:sp>
        <p:nvSpPr>
          <p:cNvPr id="14" name="Shape 9"/>
          <p:cNvSpPr/>
          <p:nvPr/>
        </p:nvSpPr>
        <p:spPr>
          <a:xfrm>
            <a:off x="6894576" y="1965960"/>
            <a:ext cx="841248" cy="841248"/>
          </a:xfrm>
          <a:prstGeom prst="ellipse">
            <a:avLst/>
          </a:prstGeom>
          <a:solidFill>
            <a:srgbClr val="F4581C"/>
          </a:solidFill>
          <a:ln/>
        </p:spPr>
      </p:sp>
      <p:pic>
        <p:nvPicPr>
          <p:cNvPr id="15" name="Image 2" descr="preencoded.png">    </p:cNvPr>
          <p:cNvPicPr>
            <a:picLocks noChangeAspect="1"/>
          </p:cNvPicPr>
          <p:nvPr/>
        </p:nvPicPr>
        <p:blipFill>
          <a:blip r:embed="rId3"/>
          <a:stretch>
            <a:fillRect/>
          </a:stretch>
        </p:blipFill>
        <p:spPr>
          <a:xfrm>
            <a:off x="7121713" y="2193097"/>
            <a:ext cx="386974" cy="386974"/>
          </a:xfrm>
          <a:prstGeom prst="rect">
            <a:avLst/>
          </a:prstGeom>
        </p:spPr>
      </p:pic>
      <p:sp>
        <p:nvSpPr>
          <p:cNvPr id="16" name="Text 10"/>
          <p:cNvSpPr/>
          <p:nvPr/>
        </p:nvSpPr>
        <p:spPr>
          <a:xfrm>
            <a:off x="5852160" y="2971800"/>
            <a:ext cx="2926080" cy="365760"/>
          </a:xfrm>
          <a:prstGeom prst="rect">
            <a:avLst/>
          </a:prstGeom>
          <a:noFill/>
          <a:ln/>
        </p:spPr>
        <p:txBody>
          <a:bodyPr wrap="square" rtlCol="0" anchor="ctr"/>
          <a:lstStyle/>
          <a:p>
            <a:pPr algn="ctr" indent="0" marL="0">
              <a:buNone/>
            </a:pPr>
            <a:r>
              <a:rPr lang="en-US" sz="1700" b="1" dirty="0">
                <a:solidFill>
                  <a:srgbClr val="EEF4F2"/>
                </a:solidFill>
                <a:latin typeface="Arial" pitchFamily="34" charset="0"/>
                <a:ea typeface="Arial" pitchFamily="34" charset="-122"/>
                <a:cs typeface="Arial" pitchFamily="34" charset="-120"/>
              </a:rPr>
              <a:t>En ligne</a:t>
            </a:r>
            <a:endParaRPr lang="en-US" sz="1700" dirty="0"/>
          </a:p>
        </p:txBody>
      </p:sp>
      <p:sp>
        <p:nvSpPr>
          <p:cNvPr id="17" name="Text 11"/>
          <p:cNvSpPr/>
          <p:nvPr/>
        </p:nvSpPr>
        <p:spPr>
          <a:xfrm>
            <a:off x="5852160" y="3374136"/>
            <a:ext cx="2926080" cy="502920"/>
          </a:xfrm>
          <a:prstGeom prst="rect">
            <a:avLst/>
          </a:prstGeom>
          <a:noFill/>
          <a:ln/>
        </p:spPr>
        <p:txBody>
          <a:bodyPr wrap="square" rtlCol="0" anchor="ctr"/>
          <a:lstStyle/>
          <a:p>
            <a:pPr algn="ctr" indent="0" marL="0">
              <a:buNone/>
            </a:pPr>
            <a:r>
              <a:rPr lang="en-US" sz="1150" dirty="0">
                <a:solidFill>
                  <a:srgbClr val="9FB4C7"/>
                </a:solidFill>
                <a:latin typeface="Arial" pitchFamily="34" charset="0"/>
                <a:ea typeface="Arial" pitchFamily="34" charset="-122"/>
                <a:cs typeface="Arial" pitchFamily="34" charset="-120"/>
              </a:rPr>
              <a:t>déployé, une URL</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51B"/>
        </a:solidFill>
      </p:bgPr>
    </p:bg>
    <p:spTree>
      <p:nvGrpSpPr>
        <p:cNvPr id="1" name=""/>
        <p:cNvGrpSpPr/>
        <p:nvPr/>
      </p:nvGrpSpPr>
      <p:grpSpPr>
        <a:xfrm>
          <a:off x="0" y="0"/>
          <a:ext cx="0" cy="0"/>
          <a:chOff x="0" y="0"/>
          <a:chExt cx="0" cy="0"/>
        </a:xfrm>
      </p:grpSpPr>
      <p:sp>
        <p:nvSpPr>
          <p:cNvPr id="2" name="Text 0"/>
          <p:cNvSpPr/>
          <p:nvPr/>
        </p:nvSpPr>
        <p:spPr>
          <a:xfrm>
            <a:off x="8412480" y="4828032"/>
            <a:ext cx="457200" cy="228600"/>
          </a:xfrm>
          <a:prstGeom prst="rect">
            <a:avLst/>
          </a:prstGeom>
          <a:noFill/>
          <a:ln/>
        </p:spPr>
        <p:txBody>
          <a:bodyPr wrap="square" rtlCol="0" anchor="ctr"/>
          <a:lstStyle/>
          <a:p>
            <a:pPr algn="r" indent="0" marL="0">
              <a:buNone/>
            </a:pPr>
            <a:r>
              <a:rPr lang="en-US" sz="900" dirty="0">
                <a:solidFill>
                  <a:srgbClr val="5E6B76"/>
                </a:solidFill>
                <a:latin typeface="Arial" pitchFamily="34" charset="0"/>
                <a:ea typeface="Arial" pitchFamily="34" charset="-122"/>
                <a:cs typeface="Arial" pitchFamily="34" charset="-120"/>
              </a:rPr>
              <a:t>6</a:t>
            </a:r>
            <a:endParaRPr lang="en-US" sz="900" dirty="0"/>
          </a:p>
        </p:txBody>
      </p:sp>
      <p:sp>
        <p:nvSpPr>
          <p:cNvPr id="4" name="Text 1"/>
          <p:cNvSpPr/>
          <p:nvPr/>
        </p:nvSpPr>
        <p:spPr>
          <a:xfrm>
            <a:off x="640080" y="566928"/>
            <a:ext cx="7863840" cy="274320"/>
          </a:xfrm>
          <a:prstGeom prst="rect">
            <a:avLst/>
          </a:prstGeom>
          <a:noFill/>
          <a:ln/>
        </p:spPr>
        <p:txBody>
          <a:bodyPr wrap="square" rtlCol="0" anchor="ctr"/>
          <a:lstStyle/>
          <a:p>
            <a:pPr indent="0" marL="0">
              <a:buNone/>
            </a:pPr>
            <a:r>
              <a:rPr lang="en-US" sz="1200" b="1" spc="400" kern="0" dirty="0">
                <a:solidFill>
                  <a:srgbClr val="F4581C"/>
                </a:solidFill>
                <a:latin typeface="Arial" pitchFamily="34" charset="0"/>
                <a:ea typeface="Arial" pitchFamily="34" charset="-122"/>
                <a:cs typeface="Arial" pitchFamily="34" charset="-120"/>
              </a:rPr>
              <a:t>CE QUE FAIT L'APPLICATION</a:t>
            </a:r>
            <a:endParaRPr lang="en-US" sz="1200" dirty="0"/>
          </a:p>
        </p:txBody>
      </p:sp>
      <p:sp>
        <p:nvSpPr>
          <p:cNvPr id="5" name="Text 2"/>
          <p:cNvSpPr/>
          <p:nvPr/>
        </p:nvSpPr>
        <p:spPr>
          <a:xfrm>
            <a:off x="640080" y="841248"/>
            <a:ext cx="7863840" cy="502920"/>
          </a:xfrm>
          <a:prstGeom prst="rect">
            <a:avLst/>
          </a:prstGeom>
          <a:noFill/>
          <a:ln/>
        </p:spPr>
        <p:txBody>
          <a:bodyPr wrap="square" rtlCol="0" anchor="ctr"/>
          <a:lstStyle/>
          <a:p>
            <a:pPr indent="0" marL="0">
              <a:buNone/>
            </a:pPr>
            <a:r>
              <a:rPr lang="en-US" sz="2600" b="1" dirty="0">
                <a:solidFill>
                  <a:srgbClr val="EEF4F2"/>
                </a:solidFill>
                <a:latin typeface="Arial" pitchFamily="34" charset="0"/>
                <a:ea typeface="Arial" pitchFamily="34" charset="-122"/>
                <a:cs typeface="Arial" pitchFamily="34" charset="-120"/>
              </a:rPr>
              <a:t>Côté visiteur, côté gestion</a:t>
            </a:r>
            <a:endParaRPr lang="en-US" sz="2600" dirty="0"/>
          </a:p>
        </p:txBody>
      </p:sp>
      <p:sp>
        <p:nvSpPr>
          <p:cNvPr id="6" name="Shape 3"/>
          <p:cNvSpPr/>
          <p:nvPr/>
        </p:nvSpPr>
        <p:spPr>
          <a:xfrm>
            <a:off x="1508760" y="1874520"/>
            <a:ext cx="640080" cy="640080"/>
          </a:xfrm>
          <a:prstGeom prst="ellipse">
            <a:avLst/>
          </a:prstGeom>
          <a:solidFill>
            <a:srgbClr val="F4581C"/>
          </a:solidFill>
          <a:ln/>
        </p:spPr>
      </p:sp>
      <p:pic>
        <p:nvPicPr>
          <p:cNvPr id="7" name="Image 0" descr="preencoded.png">    </p:cNvPr>
          <p:cNvPicPr>
            <a:picLocks noChangeAspect="1"/>
          </p:cNvPicPr>
          <p:nvPr/>
        </p:nvPicPr>
        <p:blipFill>
          <a:blip r:embed="rId1"/>
          <a:stretch>
            <a:fillRect/>
          </a:stretch>
        </p:blipFill>
        <p:spPr>
          <a:xfrm>
            <a:off x="1681582" y="2047342"/>
            <a:ext cx="294437" cy="294437"/>
          </a:xfrm>
          <a:prstGeom prst="rect">
            <a:avLst/>
          </a:prstGeom>
        </p:spPr>
      </p:pic>
      <p:sp>
        <p:nvSpPr>
          <p:cNvPr id="8" name="Text 4"/>
          <p:cNvSpPr/>
          <p:nvPr/>
        </p:nvSpPr>
        <p:spPr>
          <a:xfrm>
            <a:off x="365760" y="2624328"/>
            <a:ext cx="2926080" cy="457200"/>
          </a:xfrm>
          <a:prstGeom prst="rect">
            <a:avLst/>
          </a:prstGeom>
          <a:noFill/>
          <a:ln/>
        </p:spPr>
        <p:txBody>
          <a:bodyPr wrap="square" rtlCol="0" anchor="ctr"/>
          <a:lstStyle/>
          <a:p>
            <a:pPr algn="ctr" indent="0" marL="0">
              <a:buNone/>
            </a:pPr>
            <a:r>
              <a:rPr lang="en-US" sz="1450" b="1" dirty="0">
                <a:solidFill>
                  <a:srgbClr val="EEF4F2"/>
                </a:solidFill>
                <a:latin typeface="Arial" pitchFamily="34" charset="0"/>
                <a:ea typeface="Arial" pitchFamily="34" charset="-122"/>
                <a:cs typeface="Arial" pitchFamily="34" charset="-120"/>
              </a:rPr>
              <a:t>Liste</a:t>
            </a:r>
            <a:endParaRPr lang="en-US" sz="1450" dirty="0"/>
          </a:p>
        </p:txBody>
      </p:sp>
      <p:sp>
        <p:nvSpPr>
          <p:cNvPr id="9" name="Shape 5"/>
          <p:cNvSpPr/>
          <p:nvPr/>
        </p:nvSpPr>
        <p:spPr>
          <a:xfrm>
            <a:off x="4251960" y="1874520"/>
            <a:ext cx="640080" cy="640080"/>
          </a:xfrm>
          <a:prstGeom prst="ellipse">
            <a:avLst/>
          </a:prstGeom>
          <a:solidFill>
            <a:srgbClr val="F4581C"/>
          </a:solidFill>
          <a:ln/>
        </p:spPr>
      </p:sp>
      <p:pic>
        <p:nvPicPr>
          <p:cNvPr id="10" name="Image 1" descr="preencoded.png">    </p:cNvPr>
          <p:cNvPicPr>
            <a:picLocks noChangeAspect="1"/>
          </p:cNvPicPr>
          <p:nvPr/>
        </p:nvPicPr>
        <p:blipFill>
          <a:blip r:embed="rId2"/>
          <a:stretch>
            <a:fillRect/>
          </a:stretch>
        </p:blipFill>
        <p:spPr>
          <a:xfrm>
            <a:off x="4424782" y="2047342"/>
            <a:ext cx="294437" cy="294437"/>
          </a:xfrm>
          <a:prstGeom prst="rect">
            <a:avLst/>
          </a:prstGeom>
        </p:spPr>
      </p:pic>
      <p:sp>
        <p:nvSpPr>
          <p:cNvPr id="11" name="Text 6"/>
          <p:cNvSpPr/>
          <p:nvPr/>
        </p:nvSpPr>
        <p:spPr>
          <a:xfrm>
            <a:off x="3108960" y="2624328"/>
            <a:ext cx="2926080" cy="457200"/>
          </a:xfrm>
          <a:prstGeom prst="rect">
            <a:avLst/>
          </a:prstGeom>
          <a:noFill/>
          <a:ln/>
        </p:spPr>
        <p:txBody>
          <a:bodyPr wrap="square" rtlCol="0" anchor="ctr"/>
          <a:lstStyle/>
          <a:p>
            <a:pPr algn="ctr" indent="0" marL="0">
              <a:buNone/>
            </a:pPr>
            <a:r>
              <a:rPr lang="en-US" sz="1450" b="1" dirty="0">
                <a:solidFill>
                  <a:srgbClr val="EEF4F2"/>
                </a:solidFill>
                <a:latin typeface="Arial" pitchFamily="34" charset="0"/>
                <a:ea typeface="Arial" pitchFamily="34" charset="-122"/>
                <a:cs typeface="Arial" pitchFamily="34" charset="-120"/>
              </a:rPr>
              <a:t>Recherche</a:t>
            </a:r>
            <a:endParaRPr lang="en-US" sz="1450" dirty="0"/>
          </a:p>
        </p:txBody>
      </p:sp>
      <p:sp>
        <p:nvSpPr>
          <p:cNvPr id="12" name="Shape 7"/>
          <p:cNvSpPr/>
          <p:nvPr/>
        </p:nvSpPr>
        <p:spPr>
          <a:xfrm>
            <a:off x="6995160" y="1874520"/>
            <a:ext cx="640080" cy="640080"/>
          </a:xfrm>
          <a:prstGeom prst="ellipse">
            <a:avLst/>
          </a:prstGeom>
          <a:solidFill>
            <a:srgbClr val="F4581C"/>
          </a:solidFill>
          <a:ln/>
        </p:spPr>
      </p:sp>
      <p:pic>
        <p:nvPicPr>
          <p:cNvPr id="13" name="Image 2" descr="preencoded.png">    </p:cNvPr>
          <p:cNvPicPr>
            <a:picLocks noChangeAspect="1"/>
          </p:cNvPicPr>
          <p:nvPr/>
        </p:nvPicPr>
        <p:blipFill>
          <a:blip r:embed="rId3"/>
          <a:stretch>
            <a:fillRect/>
          </a:stretch>
        </p:blipFill>
        <p:spPr>
          <a:xfrm>
            <a:off x="7167982" y="2047342"/>
            <a:ext cx="294437" cy="294437"/>
          </a:xfrm>
          <a:prstGeom prst="rect">
            <a:avLst/>
          </a:prstGeom>
        </p:spPr>
      </p:pic>
      <p:sp>
        <p:nvSpPr>
          <p:cNvPr id="14" name="Text 8"/>
          <p:cNvSpPr/>
          <p:nvPr/>
        </p:nvSpPr>
        <p:spPr>
          <a:xfrm>
            <a:off x="5852160" y="2624328"/>
            <a:ext cx="2926080" cy="457200"/>
          </a:xfrm>
          <a:prstGeom prst="rect">
            <a:avLst/>
          </a:prstGeom>
          <a:noFill/>
          <a:ln/>
        </p:spPr>
        <p:txBody>
          <a:bodyPr wrap="square" rtlCol="0" anchor="ctr"/>
          <a:lstStyle/>
          <a:p>
            <a:pPr algn="ctr" indent="0" marL="0">
              <a:buNone/>
            </a:pPr>
            <a:r>
              <a:rPr lang="en-US" sz="1450" b="1" dirty="0">
                <a:solidFill>
                  <a:srgbClr val="EEF4F2"/>
                </a:solidFill>
                <a:latin typeface="Arial" pitchFamily="34" charset="0"/>
                <a:ea typeface="Arial" pitchFamily="34" charset="-122"/>
                <a:cs typeface="Arial" pitchFamily="34" charset="-120"/>
              </a:rPr>
              <a:t>Filtre catégorie</a:t>
            </a:r>
            <a:endParaRPr lang="en-US" sz="1450" dirty="0"/>
          </a:p>
        </p:txBody>
      </p:sp>
      <p:sp>
        <p:nvSpPr>
          <p:cNvPr id="15" name="Shape 9"/>
          <p:cNvSpPr/>
          <p:nvPr/>
        </p:nvSpPr>
        <p:spPr>
          <a:xfrm>
            <a:off x="1508760" y="3383280"/>
            <a:ext cx="640080" cy="640080"/>
          </a:xfrm>
          <a:prstGeom prst="ellipse">
            <a:avLst/>
          </a:prstGeom>
          <a:solidFill>
            <a:srgbClr val="F4581C"/>
          </a:solidFill>
          <a:ln/>
        </p:spPr>
      </p:sp>
      <p:pic>
        <p:nvPicPr>
          <p:cNvPr id="16" name="Image 3" descr="preencoded.png">    </p:cNvPr>
          <p:cNvPicPr>
            <a:picLocks noChangeAspect="1"/>
          </p:cNvPicPr>
          <p:nvPr/>
        </p:nvPicPr>
        <p:blipFill>
          <a:blip r:embed="rId4"/>
          <a:stretch>
            <a:fillRect/>
          </a:stretch>
        </p:blipFill>
        <p:spPr>
          <a:xfrm>
            <a:off x="1681582" y="3556102"/>
            <a:ext cx="294437" cy="294437"/>
          </a:xfrm>
          <a:prstGeom prst="rect">
            <a:avLst/>
          </a:prstGeom>
        </p:spPr>
      </p:pic>
      <p:sp>
        <p:nvSpPr>
          <p:cNvPr id="17" name="Text 10"/>
          <p:cNvSpPr/>
          <p:nvPr/>
        </p:nvSpPr>
        <p:spPr>
          <a:xfrm>
            <a:off x="365760" y="4133088"/>
            <a:ext cx="2926080" cy="457200"/>
          </a:xfrm>
          <a:prstGeom prst="rect">
            <a:avLst/>
          </a:prstGeom>
          <a:noFill/>
          <a:ln/>
        </p:spPr>
        <p:txBody>
          <a:bodyPr wrap="square" rtlCol="0" anchor="ctr"/>
          <a:lstStyle/>
          <a:p>
            <a:pPr algn="ctr" indent="0" marL="0">
              <a:buNone/>
            </a:pPr>
            <a:r>
              <a:rPr lang="en-US" sz="1450" b="1" dirty="0">
                <a:solidFill>
                  <a:srgbClr val="EEF4F2"/>
                </a:solidFill>
                <a:latin typeface="Arial" pitchFamily="34" charset="0"/>
                <a:ea typeface="Arial" pitchFamily="34" charset="-122"/>
                <a:cs typeface="Arial" pitchFamily="34" charset="-120"/>
              </a:rPr>
              <a:t>Fiche technique</a:t>
            </a:r>
            <a:endParaRPr lang="en-US" sz="1450" dirty="0"/>
          </a:p>
        </p:txBody>
      </p:sp>
      <p:sp>
        <p:nvSpPr>
          <p:cNvPr id="18" name="Shape 11"/>
          <p:cNvSpPr/>
          <p:nvPr/>
        </p:nvSpPr>
        <p:spPr>
          <a:xfrm>
            <a:off x="4251960" y="3383280"/>
            <a:ext cx="640080" cy="640080"/>
          </a:xfrm>
          <a:prstGeom prst="ellipse">
            <a:avLst/>
          </a:prstGeom>
          <a:solidFill>
            <a:srgbClr val="F4581C"/>
          </a:solidFill>
          <a:ln/>
        </p:spPr>
      </p:sp>
      <p:pic>
        <p:nvPicPr>
          <p:cNvPr id="19" name="Image 4" descr="preencoded.png">    </p:cNvPr>
          <p:cNvPicPr>
            <a:picLocks noChangeAspect="1"/>
          </p:cNvPicPr>
          <p:nvPr/>
        </p:nvPicPr>
        <p:blipFill>
          <a:blip r:embed="rId5"/>
          <a:stretch>
            <a:fillRect/>
          </a:stretch>
        </p:blipFill>
        <p:spPr>
          <a:xfrm>
            <a:off x="4424782" y="3556102"/>
            <a:ext cx="294437" cy="294437"/>
          </a:xfrm>
          <a:prstGeom prst="rect">
            <a:avLst/>
          </a:prstGeom>
        </p:spPr>
      </p:pic>
      <p:sp>
        <p:nvSpPr>
          <p:cNvPr id="20" name="Text 12"/>
          <p:cNvSpPr/>
          <p:nvPr/>
        </p:nvSpPr>
        <p:spPr>
          <a:xfrm>
            <a:off x="3108960" y="4133088"/>
            <a:ext cx="2926080" cy="457200"/>
          </a:xfrm>
          <a:prstGeom prst="rect">
            <a:avLst/>
          </a:prstGeom>
          <a:noFill/>
          <a:ln/>
        </p:spPr>
        <p:txBody>
          <a:bodyPr wrap="square" rtlCol="0" anchor="ctr"/>
          <a:lstStyle/>
          <a:p>
            <a:pPr algn="ctr" indent="0" marL="0">
              <a:buNone/>
            </a:pPr>
            <a:r>
              <a:rPr lang="en-US" sz="1450" b="1" dirty="0">
                <a:solidFill>
                  <a:srgbClr val="EEF4F2"/>
                </a:solidFill>
                <a:latin typeface="Arial" pitchFamily="34" charset="0"/>
                <a:ea typeface="Arial" pitchFamily="34" charset="-122"/>
                <a:cs typeface="Arial" pitchFamily="34" charset="-120"/>
              </a:rPr>
              <a:t>Espace admin</a:t>
            </a:r>
            <a:endParaRPr lang="en-US" sz="1450" dirty="0"/>
          </a:p>
        </p:txBody>
      </p:sp>
      <p:sp>
        <p:nvSpPr>
          <p:cNvPr id="21" name="Shape 13"/>
          <p:cNvSpPr/>
          <p:nvPr/>
        </p:nvSpPr>
        <p:spPr>
          <a:xfrm>
            <a:off x="6995160" y="3383280"/>
            <a:ext cx="640080" cy="640080"/>
          </a:xfrm>
          <a:prstGeom prst="ellipse">
            <a:avLst/>
          </a:prstGeom>
          <a:solidFill>
            <a:srgbClr val="F4581C"/>
          </a:solidFill>
          <a:ln/>
        </p:spPr>
      </p:sp>
      <p:pic>
        <p:nvPicPr>
          <p:cNvPr id="22" name="Image 5" descr="preencoded.png">    </p:cNvPr>
          <p:cNvPicPr>
            <a:picLocks noChangeAspect="1"/>
          </p:cNvPicPr>
          <p:nvPr/>
        </p:nvPicPr>
        <p:blipFill>
          <a:blip r:embed="rId6"/>
          <a:stretch>
            <a:fillRect/>
          </a:stretch>
        </p:blipFill>
        <p:spPr>
          <a:xfrm>
            <a:off x="7167982" y="3556102"/>
            <a:ext cx="294437" cy="294437"/>
          </a:xfrm>
          <a:prstGeom prst="rect">
            <a:avLst/>
          </a:prstGeom>
        </p:spPr>
      </p:pic>
      <p:sp>
        <p:nvSpPr>
          <p:cNvPr id="23" name="Text 14"/>
          <p:cNvSpPr/>
          <p:nvPr/>
        </p:nvSpPr>
        <p:spPr>
          <a:xfrm>
            <a:off x="5852160" y="4133088"/>
            <a:ext cx="2926080" cy="457200"/>
          </a:xfrm>
          <a:prstGeom prst="rect">
            <a:avLst/>
          </a:prstGeom>
          <a:noFill/>
          <a:ln/>
        </p:spPr>
        <p:txBody>
          <a:bodyPr wrap="square" rtlCol="0" anchor="ctr"/>
          <a:lstStyle/>
          <a:p>
            <a:pPr algn="ctr" indent="0" marL="0">
              <a:buNone/>
            </a:pPr>
            <a:r>
              <a:rPr lang="en-US" sz="1450" b="1" dirty="0">
                <a:solidFill>
                  <a:srgbClr val="EEF4F2"/>
                </a:solidFill>
                <a:latin typeface="Arial" pitchFamily="34" charset="0"/>
                <a:ea typeface="Arial" pitchFamily="34" charset="-122"/>
                <a:cs typeface="Arial" pitchFamily="34" charset="-120"/>
              </a:rPr>
              <a:t>Ajouter / Modifier / Supprimer</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51B"/>
        </a:solidFill>
      </p:bgPr>
    </p:bg>
    <p:spTree>
      <p:nvGrpSpPr>
        <p:cNvPr id="1" name=""/>
        <p:cNvGrpSpPr/>
        <p:nvPr/>
      </p:nvGrpSpPr>
      <p:grpSpPr>
        <a:xfrm>
          <a:off x="0" y="0"/>
          <a:ext cx="0" cy="0"/>
          <a:chOff x="0" y="0"/>
          <a:chExt cx="0" cy="0"/>
        </a:xfrm>
      </p:grpSpPr>
      <p:sp>
        <p:nvSpPr>
          <p:cNvPr id="2" name="Text 0"/>
          <p:cNvSpPr/>
          <p:nvPr/>
        </p:nvSpPr>
        <p:spPr>
          <a:xfrm>
            <a:off x="8412480" y="4828032"/>
            <a:ext cx="457200" cy="228600"/>
          </a:xfrm>
          <a:prstGeom prst="rect">
            <a:avLst/>
          </a:prstGeom>
          <a:noFill/>
          <a:ln/>
        </p:spPr>
        <p:txBody>
          <a:bodyPr wrap="square" rtlCol="0" anchor="ctr"/>
          <a:lstStyle/>
          <a:p>
            <a:pPr algn="r" indent="0" marL="0">
              <a:buNone/>
            </a:pPr>
            <a:r>
              <a:rPr lang="en-US" sz="900" dirty="0">
                <a:solidFill>
                  <a:srgbClr val="5E6B76"/>
                </a:solidFill>
                <a:latin typeface="Arial" pitchFamily="34" charset="0"/>
                <a:ea typeface="Arial" pitchFamily="34" charset="-122"/>
                <a:cs typeface="Arial" pitchFamily="34" charset="-120"/>
              </a:rPr>
              <a:t>7</a:t>
            </a:r>
            <a:endParaRPr lang="en-US" sz="900" dirty="0"/>
          </a:p>
        </p:txBody>
      </p:sp>
      <p:sp>
        <p:nvSpPr>
          <p:cNvPr id="4" name="Shape 1"/>
          <p:cNvSpPr/>
          <p:nvPr/>
        </p:nvSpPr>
        <p:spPr>
          <a:xfrm>
            <a:off x="4160520" y="1417320"/>
            <a:ext cx="822960" cy="822960"/>
          </a:xfrm>
          <a:prstGeom prst="ellipse">
            <a:avLst/>
          </a:prstGeom>
          <a:solidFill>
            <a:srgbClr val="F4581C"/>
          </a:solidFill>
          <a:ln/>
        </p:spPr>
      </p:sp>
      <p:pic>
        <p:nvPicPr>
          <p:cNvPr id="5" name="Image 0" descr="preencoded.png">    </p:cNvPr>
          <p:cNvPicPr>
            <a:picLocks noChangeAspect="1"/>
          </p:cNvPicPr>
          <p:nvPr/>
        </p:nvPicPr>
        <p:blipFill>
          <a:blip r:embed="rId1"/>
          <a:stretch>
            <a:fillRect/>
          </a:stretch>
        </p:blipFill>
        <p:spPr>
          <a:xfrm>
            <a:off x="4382719" y="1639519"/>
            <a:ext cx="378562" cy="378562"/>
          </a:xfrm>
          <a:prstGeom prst="rect">
            <a:avLst/>
          </a:prstGeom>
        </p:spPr>
      </p:pic>
      <p:sp>
        <p:nvSpPr>
          <p:cNvPr id="6" name="Text 2"/>
          <p:cNvSpPr/>
          <p:nvPr/>
        </p:nvSpPr>
        <p:spPr>
          <a:xfrm>
            <a:off x="457200" y="2514600"/>
            <a:ext cx="8229600" cy="822960"/>
          </a:xfrm>
          <a:prstGeom prst="rect">
            <a:avLst/>
          </a:prstGeom>
          <a:noFill/>
          <a:ln/>
        </p:spPr>
        <p:txBody>
          <a:bodyPr wrap="square" rtlCol="0" anchor="ctr"/>
          <a:lstStyle/>
          <a:p>
            <a:pPr algn="ctr" indent="0" marL="0">
              <a:buNone/>
            </a:pPr>
            <a:r>
              <a:rPr lang="en-US" sz="4600" b="1" spc="200" kern="0" dirty="0">
                <a:solidFill>
                  <a:srgbClr val="EEF4F2"/>
                </a:solidFill>
                <a:latin typeface="Arial" pitchFamily="34" charset="0"/>
                <a:ea typeface="Arial" pitchFamily="34" charset="-122"/>
                <a:cs typeface="Arial" pitchFamily="34" charset="-120"/>
              </a:rPr>
              <a:t>DÉMO LIVE</a:t>
            </a:r>
            <a:endParaRPr lang="en-US" sz="4600" dirty="0"/>
          </a:p>
        </p:txBody>
      </p:sp>
      <p:sp>
        <p:nvSpPr>
          <p:cNvPr id="7" name="Text 3"/>
          <p:cNvSpPr/>
          <p:nvPr/>
        </p:nvSpPr>
        <p:spPr>
          <a:xfrm>
            <a:off x="457200" y="3383280"/>
            <a:ext cx="8229600" cy="320040"/>
          </a:xfrm>
          <a:prstGeom prst="rect">
            <a:avLst/>
          </a:prstGeom>
          <a:noFill/>
          <a:ln/>
        </p:spPr>
        <p:txBody>
          <a:bodyPr wrap="square" rtlCol="0" anchor="ctr"/>
          <a:lstStyle/>
          <a:p>
            <a:pPr algn="ctr" indent="0" marL="0">
              <a:buNone/>
            </a:pPr>
            <a:r>
              <a:rPr lang="en-US" sz="1500" dirty="0">
                <a:solidFill>
                  <a:srgbClr val="9FB4C7"/>
                </a:solidFill>
                <a:latin typeface="Arial" pitchFamily="34" charset="0"/>
                <a:ea typeface="Arial" pitchFamily="34" charset="-122"/>
                <a:cs typeface="Arial" pitchFamily="34" charset="-120"/>
              </a:rPr>
              <a:t>sur le site en ligne</a:t>
            </a:r>
            <a:endParaRPr lang="en-US" sz="1500" dirty="0"/>
          </a:p>
        </p:txBody>
      </p:sp>
      <p:sp>
        <p:nvSpPr>
          <p:cNvPr id="8" name="Text 4"/>
          <p:cNvSpPr/>
          <p:nvPr/>
        </p:nvSpPr>
        <p:spPr>
          <a:xfrm>
            <a:off x="457200" y="4160520"/>
            <a:ext cx="8229600" cy="320040"/>
          </a:xfrm>
          <a:prstGeom prst="rect">
            <a:avLst/>
          </a:prstGeom>
          <a:noFill/>
          <a:ln/>
        </p:spPr>
        <p:txBody>
          <a:bodyPr wrap="square" rtlCol="0" anchor="ctr"/>
          <a:lstStyle/>
          <a:p>
            <a:pPr algn="ctr" indent="0" marL="0">
              <a:buNone/>
            </a:pPr>
            <a:r>
              <a:rPr lang="en-US" sz="1250" b="1" spc="100" kern="0" dirty="0">
                <a:solidFill>
                  <a:srgbClr val="F4581C"/>
                </a:solidFill>
                <a:latin typeface="Arial" pitchFamily="34" charset="0"/>
                <a:ea typeface="Arial" pitchFamily="34" charset="-122"/>
                <a:cs typeface="Arial" pitchFamily="34" charset="-120"/>
              </a:rPr>
              <a:t>Catalogue   ·   Recherche &amp; filtre   ·   Espace admin   ·   Preuve dans Firebase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51B"/>
        </a:solidFill>
      </p:bgPr>
    </p:bg>
    <p:spTree>
      <p:nvGrpSpPr>
        <p:cNvPr id="1" name=""/>
        <p:cNvGrpSpPr/>
        <p:nvPr/>
      </p:nvGrpSpPr>
      <p:grpSpPr>
        <a:xfrm>
          <a:off x="0" y="0"/>
          <a:ext cx="0" cy="0"/>
          <a:chOff x="0" y="0"/>
          <a:chExt cx="0" cy="0"/>
        </a:xfrm>
      </p:grpSpPr>
      <p:sp>
        <p:nvSpPr>
          <p:cNvPr id="2" name="Text 0"/>
          <p:cNvSpPr/>
          <p:nvPr/>
        </p:nvSpPr>
        <p:spPr>
          <a:xfrm>
            <a:off x="8412480" y="4828032"/>
            <a:ext cx="457200" cy="228600"/>
          </a:xfrm>
          <a:prstGeom prst="rect">
            <a:avLst/>
          </a:prstGeom>
          <a:noFill/>
          <a:ln/>
        </p:spPr>
        <p:txBody>
          <a:bodyPr wrap="square" rtlCol="0" anchor="ctr"/>
          <a:lstStyle/>
          <a:p>
            <a:pPr algn="r" indent="0" marL="0">
              <a:buNone/>
            </a:pPr>
            <a:r>
              <a:rPr lang="en-US" sz="900" dirty="0">
                <a:solidFill>
                  <a:srgbClr val="5E6B76"/>
                </a:solidFill>
                <a:latin typeface="Arial" pitchFamily="34" charset="0"/>
                <a:ea typeface="Arial" pitchFamily="34" charset="-122"/>
                <a:cs typeface="Arial" pitchFamily="34" charset="-120"/>
              </a:rPr>
              <a:t>8</a:t>
            </a:r>
            <a:endParaRPr lang="en-US" sz="900" dirty="0"/>
          </a:p>
        </p:txBody>
      </p:sp>
      <p:sp>
        <p:nvSpPr>
          <p:cNvPr id="4" name="Text 1"/>
          <p:cNvSpPr/>
          <p:nvPr/>
        </p:nvSpPr>
        <p:spPr>
          <a:xfrm>
            <a:off x="640080" y="566928"/>
            <a:ext cx="7863840" cy="274320"/>
          </a:xfrm>
          <a:prstGeom prst="rect">
            <a:avLst/>
          </a:prstGeom>
          <a:noFill/>
          <a:ln/>
        </p:spPr>
        <p:txBody>
          <a:bodyPr wrap="square" rtlCol="0" anchor="ctr"/>
          <a:lstStyle/>
          <a:p>
            <a:pPr indent="0" marL="0">
              <a:buNone/>
            </a:pPr>
            <a:r>
              <a:rPr lang="en-US" sz="1200" b="1" spc="400" kern="0" dirty="0">
                <a:solidFill>
                  <a:srgbClr val="F4581C"/>
                </a:solidFill>
                <a:latin typeface="Arial" pitchFamily="34" charset="0"/>
                <a:ea typeface="Arial" pitchFamily="34" charset="-122"/>
                <a:cs typeface="Arial" pitchFamily="34" charset="-120"/>
              </a:rPr>
              <a:t>LE CODE</a:t>
            </a:r>
            <a:endParaRPr lang="en-US" sz="1200" dirty="0"/>
          </a:p>
        </p:txBody>
      </p:sp>
      <p:sp>
        <p:nvSpPr>
          <p:cNvPr id="5" name="Text 2"/>
          <p:cNvSpPr/>
          <p:nvPr/>
        </p:nvSpPr>
        <p:spPr>
          <a:xfrm>
            <a:off x="640080" y="841248"/>
            <a:ext cx="7863840" cy="502920"/>
          </a:xfrm>
          <a:prstGeom prst="rect">
            <a:avLst/>
          </a:prstGeom>
          <a:noFill/>
          <a:ln/>
        </p:spPr>
        <p:txBody>
          <a:bodyPr wrap="square" rtlCol="0" anchor="ctr"/>
          <a:lstStyle/>
          <a:p>
            <a:pPr indent="0" marL="0">
              <a:buNone/>
            </a:pPr>
            <a:r>
              <a:rPr lang="en-US" sz="2600" b="1" dirty="0">
                <a:solidFill>
                  <a:srgbClr val="EEF4F2"/>
                </a:solidFill>
                <a:latin typeface="Arial" pitchFamily="34" charset="0"/>
                <a:ea typeface="Arial" pitchFamily="34" charset="-122"/>
                <a:cs typeface="Arial" pitchFamily="34" charset="-120"/>
              </a:rPr>
              <a:t>Trois choses à retenir</a:t>
            </a:r>
            <a:endParaRPr lang="en-US" sz="2600" dirty="0"/>
          </a:p>
        </p:txBody>
      </p:sp>
      <p:sp>
        <p:nvSpPr>
          <p:cNvPr id="6" name="Shape 3"/>
          <p:cNvSpPr/>
          <p:nvPr/>
        </p:nvSpPr>
        <p:spPr>
          <a:xfrm>
            <a:off x="822960" y="1828800"/>
            <a:ext cx="603504" cy="603504"/>
          </a:xfrm>
          <a:prstGeom prst="ellipse">
            <a:avLst/>
          </a:prstGeom>
          <a:solidFill>
            <a:srgbClr val="F4581C"/>
          </a:solidFill>
          <a:ln/>
        </p:spPr>
      </p:sp>
      <p:pic>
        <p:nvPicPr>
          <p:cNvPr id="7" name="Image 0" descr="preencoded.png">    </p:cNvPr>
          <p:cNvPicPr>
            <a:picLocks noChangeAspect="1"/>
          </p:cNvPicPr>
          <p:nvPr/>
        </p:nvPicPr>
        <p:blipFill>
          <a:blip r:embed="rId1"/>
          <a:stretch>
            <a:fillRect/>
          </a:stretch>
        </p:blipFill>
        <p:spPr>
          <a:xfrm>
            <a:off x="985906" y="1991746"/>
            <a:ext cx="277612" cy="277612"/>
          </a:xfrm>
          <a:prstGeom prst="rect">
            <a:avLst/>
          </a:prstGeom>
        </p:spPr>
      </p:pic>
      <p:sp>
        <p:nvSpPr>
          <p:cNvPr id="8" name="Text 4"/>
          <p:cNvSpPr/>
          <p:nvPr/>
        </p:nvSpPr>
        <p:spPr>
          <a:xfrm>
            <a:off x="1682496" y="1792224"/>
            <a:ext cx="7315200" cy="365760"/>
          </a:xfrm>
          <a:prstGeom prst="rect">
            <a:avLst/>
          </a:prstGeom>
          <a:noFill/>
          <a:ln/>
        </p:spPr>
        <p:txBody>
          <a:bodyPr wrap="square" rtlCol="0" anchor="ctr"/>
          <a:lstStyle/>
          <a:p>
            <a:pPr indent="0" marL="0">
              <a:buNone/>
            </a:pPr>
            <a:r>
              <a:rPr lang="en-US" sz="1700" b="1" dirty="0">
                <a:solidFill>
                  <a:srgbClr val="EEF4F2"/>
                </a:solidFill>
                <a:latin typeface="Arial" pitchFamily="34" charset="0"/>
                <a:ea typeface="Arial" pitchFamily="34" charset="-122"/>
                <a:cs typeface="Arial" pitchFamily="34" charset="-120"/>
              </a:rPr>
              <a:t>CRUD complet</a:t>
            </a:r>
            <a:endParaRPr lang="en-US" sz="1700" dirty="0"/>
          </a:p>
        </p:txBody>
      </p:sp>
      <p:sp>
        <p:nvSpPr>
          <p:cNvPr id="9" name="Text 5"/>
          <p:cNvSpPr/>
          <p:nvPr/>
        </p:nvSpPr>
        <p:spPr>
          <a:xfrm>
            <a:off x="1682496" y="2157984"/>
            <a:ext cx="7315200" cy="292608"/>
          </a:xfrm>
          <a:prstGeom prst="rect">
            <a:avLst/>
          </a:prstGeom>
          <a:noFill/>
          <a:ln/>
        </p:spPr>
        <p:txBody>
          <a:bodyPr wrap="square" rtlCol="0" anchor="ctr"/>
          <a:lstStyle/>
          <a:p>
            <a:pPr indent="0" marL="0">
              <a:buNone/>
            </a:pPr>
            <a:r>
              <a:rPr lang="en-US" sz="1250" dirty="0">
                <a:solidFill>
                  <a:srgbClr val="9FB4C7"/>
                </a:solidFill>
                <a:latin typeface="Arial" pitchFamily="34" charset="0"/>
                <a:ea typeface="Arial" pitchFamily="34" charset="-122"/>
                <a:cs typeface="Arial" pitchFamily="34" charset="-120"/>
              </a:rPr>
              <a:t>addDoc · getDocs · updateDoc · deleteDoc (SDK Firestore, async/await)</a:t>
            </a:r>
            <a:endParaRPr lang="en-US" sz="1250" dirty="0"/>
          </a:p>
        </p:txBody>
      </p:sp>
      <p:sp>
        <p:nvSpPr>
          <p:cNvPr id="10" name="Shape 6"/>
          <p:cNvSpPr/>
          <p:nvPr/>
        </p:nvSpPr>
        <p:spPr>
          <a:xfrm>
            <a:off x="822960" y="2743200"/>
            <a:ext cx="603504" cy="603504"/>
          </a:xfrm>
          <a:prstGeom prst="ellipse">
            <a:avLst/>
          </a:prstGeom>
          <a:solidFill>
            <a:srgbClr val="F4581C"/>
          </a:solidFill>
          <a:ln/>
        </p:spPr>
      </p:sp>
      <p:pic>
        <p:nvPicPr>
          <p:cNvPr id="11" name="Image 1" descr="preencoded.png">    </p:cNvPr>
          <p:cNvPicPr>
            <a:picLocks noChangeAspect="1"/>
          </p:cNvPicPr>
          <p:nvPr/>
        </p:nvPicPr>
        <p:blipFill>
          <a:blip r:embed="rId2"/>
          <a:stretch>
            <a:fillRect/>
          </a:stretch>
        </p:blipFill>
        <p:spPr>
          <a:xfrm>
            <a:off x="985906" y="2906146"/>
            <a:ext cx="277612" cy="277612"/>
          </a:xfrm>
          <a:prstGeom prst="rect">
            <a:avLst/>
          </a:prstGeom>
        </p:spPr>
      </p:pic>
      <p:sp>
        <p:nvSpPr>
          <p:cNvPr id="12" name="Text 7"/>
          <p:cNvSpPr/>
          <p:nvPr/>
        </p:nvSpPr>
        <p:spPr>
          <a:xfrm>
            <a:off x="1682496" y="2706624"/>
            <a:ext cx="7315200" cy="365760"/>
          </a:xfrm>
          <a:prstGeom prst="rect">
            <a:avLst/>
          </a:prstGeom>
          <a:noFill/>
          <a:ln/>
        </p:spPr>
        <p:txBody>
          <a:bodyPr wrap="square" rtlCol="0" anchor="ctr"/>
          <a:lstStyle/>
          <a:p>
            <a:pPr indent="0" marL="0">
              <a:buNone/>
            </a:pPr>
            <a:r>
              <a:rPr lang="en-US" sz="1700" b="1" dirty="0">
                <a:solidFill>
                  <a:srgbClr val="EEF4F2"/>
                </a:solidFill>
                <a:latin typeface="Arial" pitchFamily="34" charset="0"/>
                <a:ea typeface="Arial" pitchFamily="34" charset="-122"/>
                <a:cs typeface="Arial" pitchFamily="34" charset="-120"/>
              </a:rPr>
              <a:t>Filtre = requête where</a:t>
            </a:r>
            <a:endParaRPr lang="en-US" sz="1700" dirty="0"/>
          </a:p>
        </p:txBody>
      </p:sp>
      <p:sp>
        <p:nvSpPr>
          <p:cNvPr id="13" name="Text 8"/>
          <p:cNvSpPr/>
          <p:nvPr/>
        </p:nvSpPr>
        <p:spPr>
          <a:xfrm>
            <a:off x="1682496" y="3072384"/>
            <a:ext cx="7315200" cy="292608"/>
          </a:xfrm>
          <a:prstGeom prst="rect">
            <a:avLst/>
          </a:prstGeom>
          <a:noFill/>
          <a:ln/>
        </p:spPr>
        <p:txBody>
          <a:bodyPr wrap="square" rtlCol="0" anchor="ctr"/>
          <a:lstStyle/>
          <a:p>
            <a:pPr indent="0" marL="0">
              <a:buNone/>
            </a:pPr>
            <a:r>
              <a:rPr lang="en-US" sz="1250" dirty="0">
                <a:solidFill>
                  <a:srgbClr val="9FB4C7"/>
                </a:solidFill>
                <a:latin typeface="Arial" pitchFamily="34" charset="0"/>
                <a:ea typeface="Arial" pitchFamily="34" charset="-122"/>
                <a:cs typeface="Arial" pitchFamily="34" charset="-120"/>
              </a:rPr>
              <a:t>query(collection, where("categorie", "==", …)) — une vraie requête NoSQL</a:t>
            </a:r>
            <a:endParaRPr lang="en-US" sz="1250" dirty="0"/>
          </a:p>
        </p:txBody>
      </p:sp>
      <p:sp>
        <p:nvSpPr>
          <p:cNvPr id="14" name="Shape 9"/>
          <p:cNvSpPr/>
          <p:nvPr/>
        </p:nvSpPr>
        <p:spPr>
          <a:xfrm>
            <a:off x="822960" y="3657600"/>
            <a:ext cx="603504" cy="603504"/>
          </a:xfrm>
          <a:prstGeom prst="ellipse">
            <a:avLst/>
          </a:prstGeom>
          <a:solidFill>
            <a:srgbClr val="F4581C"/>
          </a:solidFill>
          <a:ln/>
        </p:spPr>
      </p:sp>
      <p:pic>
        <p:nvPicPr>
          <p:cNvPr id="15" name="Image 2" descr="preencoded.png">    </p:cNvPr>
          <p:cNvPicPr>
            <a:picLocks noChangeAspect="1"/>
          </p:cNvPicPr>
          <p:nvPr/>
        </p:nvPicPr>
        <p:blipFill>
          <a:blip r:embed="rId3"/>
          <a:stretch>
            <a:fillRect/>
          </a:stretch>
        </p:blipFill>
        <p:spPr>
          <a:xfrm>
            <a:off x="985906" y="3820546"/>
            <a:ext cx="277612" cy="277612"/>
          </a:xfrm>
          <a:prstGeom prst="rect">
            <a:avLst/>
          </a:prstGeom>
        </p:spPr>
      </p:pic>
      <p:sp>
        <p:nvSpPr>
          <p:cNvPr id="16" name="Text 10"/>
          <p:cNvSpPr/>
          <p:nvPr/>
        </p:nvSpPr>
        <p:spPr>
          <a:xfrm>
            <a:off x="1682496" y="3621024"/>
            <a:ext cx="7315200" cy="365760"/>
          </a:xfrm>
          <a:prstGeom prst="rect">
            <a:avLst/>
          </a:prstGeom>
          <a:noFill/>
          <a:ln/>
        </p:spPr>
        <p:txBody>
          <a:bodyPr wrap="square" rtlCol="0" anchor="ctr"/>
          <a:lstStyle/>
          <a:p>
            <a:pPr indent="0" marL="0">
              <a:buNone/>
            </a:pPr>
            <a:r>
              <a:rPr lang="en-US" sz="1700" b="1" dirty="0">
                <a:solidFill>
                  <a:srgbClr val="EEF4F2"/>
                </a:solidFill>
                <a:latin typeface="Arial" pitchFamily="34" charset="0"/>
                <a:ea typeface="Arial" pitchFamily="34" charset="-122"/>
                <a:cs typeface="Arial" pitchFamily="34" charset="-120"/>
              </a:rPr>
              <a:t>Recherche côté client</a:t>
            </a:r>
            <a:endParaRPr lang="en-US" sz="1700" dirty="0"/>
          </a:p>
        </p:txBody>
      </p:sp>
      <p:sp>
        <p:nvSpPr>
          <p:cNvPr id="17" name="Text 11"/>
          <p:cNvSpPr/>
          <p:nvPr/>
        </p:nvSpPr>
        <p:spPr>
          <a:xfrm>
            <a:off x="1682496" y="3986784"/>
            <a:ext cx="7315200" cy="292608"/>
          </a:xfrm>
          <a:prstGeom prst="rect">
            <a:avLst/>
          </a:prstGeom>
          <a:noFill/>
          <a:ln/>
        </p:spPr>
        <p:txBody>
          <a:bodyPr wrap="square" rtlCol="0" anchor="ctr"/>
          <a:lstStyle/>
          <a:p>
            <a:pPr indent="0" marL="0">
              <a:buNone/>
            </a:pPr>
            <a:r>
              <a:rPr lang="en-US" sz="1250" dirty="0">
                <a:solidFill>
                  <a:srgbClr val="9FB4C7"/>
                </a:solidFill>
                <a:latin typeface="Arial" pitchFamily="34" charset="0"/>
                <a:ea typeface="Arial" pitchFamily="34" charset="-122"/>
                <a:cs typeface="Arial" pitchFamily="34" charset="-120"/>
              </a:rPr>
              <a:t>pas de recherche plein texte native dans Firestore → filtrage en JavaScript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51B"/>
        </a:solidFill>
      </p:bgPr>
    </p:bg>
    <p:spTree>
      <p:nvGrpSpPr>
        <p:cNvPr id="1" name=""/>
        <p:cNvGrpSpPr/>
        <p:nvPr/>
      </p:nvGrpSpPr>
      <p:grpSpPr>
        <a:xfrm>
          <a:off x="0" y="0"/>
          <a:ext cx="0" cy="0"/>
          <a:chOff x="0" y="0"/>
          <a:chExt cx="0" cy="0"/>
        </a:xfrm>
      </p:grpSpPr>
      <p:sp>
        <p:nvSpPr>
          <p:cNvPr id="2" name="Text 0"/>
          <p:cNvSpPr/>
          <p:nvPr/>
        </p:nvSpPr>
        <p:spPr>
          <a:xfrm>
            <a:off x="8412480" y="4828032"/>
            <a:ext cx="457200" cy="228600"/>
          </a:xfrm>
          <a:prstGeom prst="rect">
            <a:avLst/>
          </a:prstGeom>
          <a:noFill/>
          <a:ln/>
        </p:spPr>
        <p:txBody>
          <a:bodyPr wrap="square" rtlCol="0" anchor="ctr"/>
          <a:lstStyle/>
          <a:p>
            <a:pPr algn="r" indent="0" marL="0">
              <a:buNone/>
            </a:pPr>
            <a:r>
              <a:rPr lang="en-US" sz="900" dirty="0">
                <a:solidFill>
                  <a:srgbClr val="5E6B76"/>
                </a:solidFill>
                <a:latin typeface="Arial" pitchFamily="34" charset="0"/>
                <a:ea typeface="Arial" pitchFamily="34" charset="-122"/>
                <a:cs typeface="Arial" pitchFamily="34" charset="-120"/>
              </a:rPr>
              <a:t>9</a:t>
            </a:r>
            <a:endParaRPr lang="en-US" sz="900" dirty="0"/>
          </a:p>
        </p:txBody>
      </p:sp>
      <p:sp>
        <p:nvSpPr>
          <p:cNvPr id="4" name="Text 1"/>
          <p:cNvSpPr/>
          <p:nvPr/>
        </p:nvSpPr>
        <p:spPr>
          <a:xfrm>
            <a:off x="640080" y="566928"/>
            <a:ext cx="7863840" cy="274320"/>
          </a:xfrm>
          <a:prstGeom prst="rect">
            <a:avLst/>
          </a:prstGeom>
          <a:noFill/>
          <a:ln/>
        </p:spPr>
        <p:txBody>
          <a:bodyPr wrap="square" rtlCol="0" anchor="ctr"/>
          <a:lstStyle/>
          <a:p>
            <a:pPr indent="0" marL="0">
              <a:buNone/>
            </a:pPr>
            <a:r>
              <a:rPr lang="en-US" sz="1200" b="1" spc="400" kern="0" dirty="0">
                <a:solidFill>
                  <a:srgbClr val="F4581C"/>
                </a:solidFill>
                <a:latin typeface="Arial" pitchFamily="34" charset="0"/>
                <a:ea typeface="Arial" pitchFamily="34" charset="-122"/>
                <a:cs typeface="Arial" pitchFamily="34" charset="-120"/>
              </a:rPr>
              <a:t>SÉCURITÉ</a:t>
            </a:r>
            <a:endParaRPr lang="en-US" sz="1200" dirty="0"/>
          </a:p>
        </p:txBody>
      </p:sp>
      <p:sp>
        <p:nvSpPr>
          <p:cNvPr id="5" name="Text 2"/>
          <p:cNvSpPr/>
          <p:nvPr/>
        </p:nvSpPr>
        <p:spPr>
          <a:xfrm>
            <a:off x="640080" y="841248"/>
            <a:ext cx="7863840" cy="502920"/>
          </a:xfrm>
          <a:prstGeom prst="rect">
            <a:avLst/>
          </a:prstGeom>
          <a:noFill/>
          <a:ln/>
        </p:spPr>
        <p:txBody>
          <a:bodyPr wrap="square" rtlCol="0" anchor="ctr"/>
          <a:lstStyle/>
          <a:p>
            <a:pPr indent="0" marL="0">
              <a:buNone/>
            </a:pPr>
            <a:r>
              <a:rPr lang="en-US" sz="2600" b="1" dirty="0">
                <a:solidFill>
                  <a:srgbClr val="EEF4F2"/>
                </a:solidFill>
                <a:latin typeface="Arial" pitchFamily="34" charset="0"/>
                <a:ea typeface="Arial" pitchFamily="34" charset="-122"/>
                <a:cs typeface="Arial" pitchFamily="34" charset="-120"/>
              </a:rPr>
              <a:t>Deux niveaux</a:t>
            </a:r>
            <a:endParaRPr lang="en-US" sz="2600" dirty="0"/>
          </a:p>
        </p:txBody>
      </p:sp>
      <p:sp>
        <p:nvSpPr>
          <p:cNvPr id="6" name="Shape 3"/>
          <p:cNvSpPr/>
          <p:nvPr/>
        </p:nvSpPr>
        <p:spPr>
          <a:xfrm>
            <a:off x="822960" y="1965960"/>
            <a:ext cx="603504" cy="603504"/>
          </a:xfrm>
          <a:prstGeom prst="ellipse">
            <a:avLst/>
          </a:prstGeom>
          <a:solidFill>
            <a:srgbClr val="F4581C"/>
          </a:solidFill>
          <a:ln/>
        </p:spPr>
      </p:sp>
      <p:pic>
        <p:nvPicPr>
          <p:cNvPr id="7" name="Image 0" descr="preencoded.png">    </p:cNvPr>
          <p:cNvPicPr>
            <a:picLocks noChangeAspect="1"/>
          </p:cNvPicPr>
          <p:nvPr/>
        </p:nvPicPr>
        <p:blipFill>
          <a:blip r:embed="rId1"/>
          <a:stretch>
            <a:fillRect/>
          </a:stretch>
        </p:blipFill>
        <p:spPr>
          <a:xfrm>
            <a:off x="985906" y="2128906"/>
            <a:ext cx="277612" cy="277612"/>
          </a:xfrm>
          <a:prstGeom prst="rect">
            <a:avLst/>
          </a:prstGeom>
        </p:spPr>
      </p:pic>
      <p:sp>
        <p:nvSpPr>
          <p:cNvPr id="8" name="Text 4"/>
          <p:cNvSpPr/>
          <p:nvPr/>
        </p:nvSpPr>
        <p:spPr>
          <a:xfrm>
            <a:off x="1682496" y="1929384"/>
            <a:ext cx="7315200" cy="365760"/>
          </a:xfrm>
          <a:prstGeom prst="rect">
            <a:avLst/>
          </a:prstGeom>
          <a:noFill/>
          <a:ln/>
        </p:spPr>
        <p:txBody>
          <a:bodyPr wrap="square" rtlCol="0" anchor="ctr"/>
          <a:lstStyle/>
          <a:p>
            <a:pPr indent="0" marL="0">
              <a:buNone/>
            </a:pPr>
            <a:r>
              <a:rPr lang="en-US" sz="1700" b="1" dirty="0">
                <a:solidFill>
                  <a:srgbClr val="EEF4F2"/>
                </a:solidFill>
                <a:latin typeface="Arial" pitchFamily="34" charset="0"/>
                <a:ea typeface="Arial" pitchFamily="34" charset="-122"/>
                <a:cs typeface="Arial" pitchFamily="34" charset="-120"/>
              </a:rPr>
              <a:t>L'interface</a:t>
            </a:r>
            <a:endParaRPr lang="en-US" sz="1700" dirty="0"/>
          </a:p>
        </p:txBody>
      </p:sp>
      <p:sp>
        <p:nvSpPr>
          <p:cNvPr id="9" name="Text 5"/>
          <p:cNvSpPr/>
          <p:nvPr/>
        </p:nvSpPr>
        <p:spPr>
          <a:xfrm>
            <a:off x="1682496" y="2295144"/>
            <a:ext cx="7315200" cy="292608"/>
          </a:xfrm>
          <a:prstGeom prst="rect">
            <a:avLst/>
          </a:prstGeom>
          <a:noFill/>
          <a:ln/>
        </p:spPr>
        <p:txBody>
          <a:bodyPr wrap="square" rtlCol="0" anchor="ctr"/>
          <a:lstStyle/>
          <a:p>
            <a:pPr indent="0" marL="0">
              <a:buNone/>
            </a:pPr>
            <a:r>
              <a:rPr lang="en-US" sz="1250" dirty="0">
                <a:solidFill>
                  <a:srgbClr val="9FB4C7"/>
                </a:solidFill>
                <a:latin typeface="Arial" pitchFamily="34" charset="0"/>
                <a:ea typeface="Arial" pitchFamily="34" charset="-122"/>
                <a:cs typeface="Arial" pitchFamily="34" charset="-120"/>
              </a:rPr>
              <a:t>page admin protégée par mot de passe — empreinte SHA-256, session de l'onglet</a:t>
            </a:r>
            <a:endParaRPr lang="en-US" sz="1250" dirty="0"/>
          </a:p>
        </p:txBody>
      </p:sp>
      <p:sp>
        <p:nvSpPr>
          <p:cNvPr id="10" name="Shape 6"/>
          <p:cNvSpPr/>
          <p:nvPr/>
        </p:nvSpPr>
        <p:spPr>
          <a:xfrm>
            <a:off x="822960" y="3063240"/>
            <a:ext cx="603504" cy="603504"/>
          </a:xfrm>
          <a:prstGeom prst="ellipse">
            <a:avLst/>
          </a:prstGeom>
          <a:solidFill>
            <a:srgbClr val="F4581C"/>
          </a:solidFill>
          <a:ln/>
        </p:spPr>
      </p:sp>
      <p:pic>
        <p:nvPicPr>
          <p:cNvPr id="11" name="Image 1" descr="preencoded.png">    </p:cNvPr>
          <p:cNvPicPr>
            <a:picLocks noChangeAspect="1"/>
          </p:cNvPicPr>
          <p:nvPr/>
        </p:nvPicPr>
        <p:blipFill>
          <a:blip r:embed="rId2"/>
          <a:stretch>
            <a:fillRect/>
          </a:stretch>
        </p:blipFill>
        <p:spPr>
          <a:xfrm>
            <a:off x="985906" y="3226186"/>
            <a:ext cx="277612" cy="277612"/>
          </a:xfrm>
          <a:prstGeom prst="rect">
            <a:avLst/>
          </a:prstGeom>
        </p:spPr>
      </p:pic>
      <p:sp>
        <p:nvSpPr>
          <p:cNvPr id="12" name="Text 7"/>
          <p:cNvSpPr/>
          <p:nvPr/>
        </p:nvSpPr>
        <p:spPr>
          <a:xfrm>
            <a:off x="1682496" y="3026664"/>
            <a:ext cx="7315200" cy="365760"/>
          </a:xfrm>
          <a:prstGeom prst="rect">
            <a:avLst/>
          </a:prstGeom>
          <a:noFill/>
          <a:ln/>
        </p:spPr>
        <p:txBody>
          <a:bodyPr wrap="square" rtlCol="0" anchor="ctr"/>
          <a:lstStyle/>
          <a:p>
            <a:pPr indent="0" marL="0">
              <a:buNone/>
            </a:pPr>
            <a:r>
              <a:rPr lang="en-US" sz="1700" b="1" dirty="0">
                <a:solidFill>
                  <a:srgbClr val="EEF4F2"/>
                </a:solidFill>
                <a:latin typeface="Arial" pitchFamily="34" charset="0"/>
                <a:ea typeface="Arial" pitchFamily="34" charset="-122"/>
                <a:cs typeface="Arial" pitchFamily="34" charset="-120"/>
              </a:rPr>
              <a:t>La base</a:t>
            </a:r>
            <a:endParaRPr lang="en-US" sz="1700" dirty="0"/>
          </a:p>
        </p:txBody>
      </p:sp>
      <p:sp>
        <p:nvSpPr>
          <p:cNvPr id="13" name="Text 8"/>
          <p:cNvSpPr/>
          <p:nvPr/>
        </p:nvSpPr>
        <p:spPr>
          <a:xfrm>
            <a:off x="1682496" y="3392424"/>
            <a:ext cx="7315200" cy="292608"/>
          </a:xfrm>
          <a:prstGeom prst="rect">
            <a:avLst/>
          </a:prstGeom>
          <a:noFill/>
          <a:ln/>
        </p:spPr>
        <p:txBody>
          <a:bodyPr wrap="square" rtlCol="0" anchor="ctr"/>
          <a:lstStyle/>
          <a:p>
            <a:pPr indent="0" marL="0">
              <a:buNone/>
            </a:pPr>
            <a:r>
              <a:rPr lang="en-US" sz="1250" dirty="0">
                <a:solidFill>
                  <a:srgbClr val="9FB4C7"/>
                </a:solidFill>
                <a:latin typeface="Arial" pitchFamily="34" charset="0"/>
                <a:ea typeface="Arial" pitchFamily="34" charset="-122"/>
                <a:cs typeface="Arial" pitchFamily="34" charset="-120"/>
              </a:rPr>
              <a:t>règles Firestore : lecture publique, écriture ouverte pour le projet</a:t>
            </a:r>
            <a:endParaRPr lang="en-US" sz="1250" dirty="0"/>
          </a:p>
        </p:txBody>
      </p:sp>
      <p:sp>
        <p:nvSpPr>
          <p:cNvPr id="14" name="Text 9"/>
          <p:cNvSpPr/>
          <p:nvPr/>
        </p:nvSpPr>
        <p:spPr>
          <a:xfrm>
            <a:off x="822960" y="4069080"/>
            <a:ext cx="7680960" cy="365760"/>
          </a:xfrm>
          <a:prstGeom prst="rect">
            <a:avLst/>
          </a:prstGeom>
          <a:noFill/>
          <a:ln/>
        </p:spPr>
        <p:txBody>
          <a:bodyPr wrap="square" rtlCol="0" anchor="ctr"/>
          <a:lstStyle/>
          <a:p>
            <a:pPr indent="0" marL="0">
              <a:buNone/>
            </a:pPr>
            <a:r>
              <a:rPr lang="en-US" sz="1250" b="1" dirty="0">
                <a:solidFill>
                  <a:srgbClr val="F4581C"/>
                </a:solidFill>
                <a:latin typeface="Arial" pitchFamily="34" charset="0"/>
                <a:ea typeface="Arial" pitchFamily="34" charset="-122"/>
                <a:cs typeface="Arial" pitchFamily="34" charset="-120"/>
              </a:rPr>
              <a:t>Limite assumée : </a:t>
            </a:r>
            <a:pPr indent="0" marL="0">
              <a:buNone/>
            </a:pPr>
            <a:r>
              <a:rPr lang="en-US" sz="1250" dirty="0">
                <a:solidFill>
                  <a:srgbClr val="9FB4C7"/>
                </a:solidFill>
                <a:latin typeface="Arial" pitchFamily="34" charset="0"/>
                <a:ea typeface="Arial" pitchFamily="34" charset="-122"/>
                <a:cs typeface="Arial" pitchFamily="34" charset="-120"/>
              </a:rPr>
              <a:t>en production, écriture réservée aux connectés (Firebase Authentication).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51B"/>
        </a:solidFill>
      </p:bgPr>
    </p:bg>
    <p:spTree>
      <p:nvGrpSpPr>
        <p:cNvPr id="1" name=""/>
        <p:cNvGrpSpPr/>
        <p:nvPr/>
      </p:nvGrpSpPr>
      <p:grpSpPr>
        <a:xfrm>
          <a:off x="0" y="0"/>
          <a:ext cx="0" cy="0"/>
          <a:chOff x="0" y="0"/>
          <a:chExt cx="0" cy="0"/>
        </a:xfrm>
      </p:grpSpPr>
      <p:sp>
        <p:nvSpPr>
          <p:cNvPr id="2" name="Text 0"/>
          <p:cNvSpPr/>
          <p:nvPr/>
        </p:nvSpPr>
        <p:spPr>
          <a:xfrm>
            <a:off x="8412480" y="4828032"/>
            <a:ext cx="457200" cy="228600"/>
          </a:xfrm>
          <a:prstGeom prst="rect">
            <a:avLst/>
          </a:prstGeom>
          <a:noFill/>
          <a:ln/>
        </p:spPr>
        <p:txBody>
          <a:bodyPr wrap="square" rtlCol="0" anchor="ctr"/>
          <a:lstStyle/>
          <a:p>
            <a:pPr algn="r" indent="0" marL="0">
              <a:buNone/>
            </a:pPr>
            <a:r>
              <a:rPr lang="en-US" sz="900" dirty="0">
                <a:solidFill>
                  <a:srgbClr val="5E6B76"/>
                </a:solidFill>
                <a:latin typeface="Arial" pitchFamily="34" charset="0"/>
                <a:ea typeface="Arial" pitchFamily="34" charset="-122"/>
                <a:cs typeface="Arial" pitchFamily="34" charset="-120"/>
              </a:rPr>
              <a:t>10</a:t>
            </a:r>
            <a:endParaRPr lang="en-US" sz="900" dirty="0"/>
          </a:p>
        </p:txBody>
      </p:sp>
      <p:sp>
        <p:nvSpPr>
          <p:cNvPr id="4" name="Text 1"/>
          <p:cNvSpPr/>
          <p:nvPr/>
        </p:nvSpPr>
        <p:spPr>
          <a:xfrm>
            <a:off x="640080" y="566928"/>
            <a:ext cx="7863840" cy="274320"/>
          </a:xfrm>
          <a:prstGeom prst="rect">
            <a:avLst/>
          </a:prstGeom>
          <a:noFill/>
          <a:ln/>
        </p:spPr>
        <p:txBody>
          <a:bodyPr wrap="square" rtlCol="0" anchor="ctr"/>
          <a:lstStyle/>
          <a:p>
            <a:pPr indent="0" marL="0">
              <a:buNone/>
            </a:pPr>
            <a:r>
              <a:rPr lang="en-US" sz="1200" b="1" spc="400" kern="0" dirty="0">
                <a:solidFill>
                  <a:srgbClr val="F4581C"/>
                </a:solidFill>
                <a:latin typeface="Arial" pitchFamily="34" charset="0"/>
                <a:ea typeface="Arial" pitchFamily="34" charset="-122"/>
                <a:cs typeface="Arial" pitchFamily="34" charset="-120"/>
              </a:rPr>
              <a:t>ORGANISATION</a:t>
            </a:r>
            <a:endParaRPr lang="en-US" sz="1200" dirty="0"/>
          </a:p>
        </p:txBody>
      </p:sp>
      <p:sp>
        <p:nvSpPr>
          <p:cNvPr id="5" name="Text 2"/>
          <p:cNvSpPr/>
          <p:nvPr/>
        </p:nvSpPr>
        <p:spPr>
          <a:xfrm>
            <a:off x="640080" y="841248"/>
            <a:ext cx="7863840" cy="502920"/>
          </a:xfrm>
          <a:prstGeom prst="rect">
            <a:avLst/>
          </a:prstGeom>
          <a:noFill/>
          <a:ln/>
        </p:spPr>
        <p:txBody>
          <a:bodyPr wrap="square" rtlCol="0" anchor="ctr"/>
          <a:lstStyle/>
          <a:p>
            <a:pPr indent="0" marL="0">
              <a:buNone/>
            </a:pPr>
            <a:r>
              <a:rPr lang="en-US" sz="2600" b="1" dirty="0">
                <a:solidFill>
                  <a:srgbClr val="EEF4F2"/>
                </a:solidFill>
                <a:latin typeface="Arial" pitchFamily="34" charset="0"/>
                <a:ea typeface="Arial" pitchFamily="34" charset="-122"/>
                <a:cs typeface="Arial" pitchFamily="34" charset="-120"/>
              </a:rPr>
              <a:t>À deux, proprement</a:t>
            </a:r>
            <a:endParaRPr lang="en-US" sz="2600" dirty="0"/>
          </a:p>
        </p:txBody>
      </p:sp>
      <p:sp>
        <p:nvSpPr>
          <p:cNvPr id="6" name="Shape 3"/>
          <p:cNvSpPr/>
          <p:nvPr/>
        </p:nvSpPr>
        <p:spPr>
          <a:xfrm>
            <a:off x="1408176" y="1965960"/>
            <a:ext cx="841248" cy="841248"/>
          </a:xfrm>
          <a:prstGeom prst="ellipse">
            <a:avLst/>
          </a:prstGeom>
          <a:solidFill>
            <a:srgbClr val="F4581C"/>
          </a:solidFill>
          <a:ln/>
        </p:spPr>
      </p:sp>
      <p:pic>
        <p:nvPicPr>
          <p:cNvPr id="7" name="Image 0" descr="preencoded.png">    </p:cNvPr>
          <p:cNvPicPr>
            <a:picLocks noChangeAspect="1"/>
          </p:cNvPicPr>
          <p:nvPr/>
        </p:nvPicPr>
        <p:blipFill>
          <a:blip r:embed="rId1"/>
          <a:stretch>
            <a:fillRect/>
          </a:stretch>
        </p:blipFill>
        <p:spPr>
          <a:xfrm>
            <a:off x="1635313" y="2193097"/>
            <a:ext cx="386974" cy="386974"/>
          </a:xfrm>
          <a:prstGeom prst="rect">
            <a:avLst/>
          </a:prstGeom>
        </p:spPr>
      </p:pic>
      <p:sp>
        <p:nvSpPr>
          <p:cNvPr id="8" name="Text 4"/>
          <p:cNvSpPr/>
          <p:nvPr/>
        </p:nvSpPr>
        <p:spPr>
          <a:xfrm>
            <a:off x="365760" y="2971800"/>
            <a:ext cx="2926080" cy="365760"/>
          </a:xfrm>
          <a:prstGeom prst="rect">
            <a:avLst/>
          </a:prstGeom>
          <a:noFill/>
          <a:ln/>
        </p:spPr>
        <p:txBody>
          <a:bodyPr wrap="square" rtlCol="0" anchor="ctr"/>
          <a:lstStyle/>
          <a:p>
            <a:pPr algn="ctr" indent="0" marL="0">
              <a:buNone/>
            </a:pPr>
            <a:r>
              <a:rPr lang="en-US" sz="1700" b="1" dirty="0">
                <a:solidFill>
                  <a:srgbClr val="EEF4F2"/>
                </a:solidFill>
                <a:latin typeface="Arial" pitchFamily="34" charset="0"/>
                <a:ea typeface="Arial" pitchFamily="34" charset="-122"/>
                <a:cs typeface="Arial" pitchFamily="34" charset="-120"/>
              </a:rPr>
              <a:t>Trello</a:t>
            </a:r>
            <a:endParaRPr lang="en-US" sz="1700" dirty="0"/>
          </a:p>
        </p:txBody>
      </p:sp>
      <p:sp>
        <p:nvSpPr>
          <p:cNvPr id="9" name="Text 5"/>
          <p:cNvSpPr/>
          <p:nvPr/>
        </p:nvSpPr>
        <p:spPr>
          <a:xfrm>
            <a:off x="365760" y="3374136"/>
            <a:ext cx="2926080" cy="502920"/>
          </a:xfrm>
          <a:prstGeom prst="rect">
            <a:avLst/>
          </a:prstGeom>
          <a:noFill/>
          <a:ln/>
        </p:spPr>
        <p:txBody>
          <a:bodyPr wrap="square" rtlCol="0" anchor="ctr"/>
          <a:lstStyle/>
          <a:p>
            <a:pPr algn="ctr" indent="0" marL="0">
              <a:buNone/>
            </a:pPr>
            <a:r>
              <a:rPr lang="en-US" sz="1150" dirty="0">
                <a:solidFill>
                  <a:srgbClr val="9FB4C7"/>
                </a:solidFill>
                <a:latin typeface="Arial" pitchFamily="34" charset="0"/>
                <a:ea typeface="Arial" pitchFamily="34" charset="-122"/>
                <a:cs typeface="Arial" pitchFamily="34" charset="-120"/>
              </a:rPr>
              <a:t>backlog issu des user stories</a:t>
            </a:r>
            <a:endParaRPr lang="en-US" sz="1150" dirty="0"/>
          </a:p>
        </p:txBody>
      </p:sp>
      <p:sp>
        <p:nvSpPr>
          <p:cNvPr id="10" name="Shape 6"/>
          <p:cNvSpPr/>
          <p:nvPr/>
        </p:nvSpPr>
        <p:spPr>
          <a:xfrm>
            <a:off x="4151376" y="1965960"/>
            <a:ext cx="841248" cy="841248"/>
          </a:xfrm>
          <a:prstGeom prst="ellipse">
            <a:avLst/>
          </a:prstGeom>
          <a:solidFill>
            <a:srgbClr val="F4581C"/>
          </a:solidFill>
          <a:ln/>
        </p:spPr>
      </p:sp>
      <p:pic>
        <p:nvPicPr>
          <p:cNvPr id="11" name="Image 1" descr="preencoded.png">    </p:cNvPr>
          <p:cNvPicPr>
            <a:picLocks noChangeAspect="1"/>
          </p:cNvPicPr>
          <p:nvPr/>
        </p:nvPicPr>
        <p:blipFill>
          <a:blip r:embed="rId2"/>
          <a:stretch>
            <a:fillRect/>
          </a:stretch>
        </p:blipFill>
        <p:spPr>
          <a:xfrm>
            <a:off x="4378513" y="2193097"/>
            <a:ext cx="386974" cy="386974"/>
          </a:xfrm>
          <a:prstGeom prst="rect">
            <a:avLst/>
          </a:prstGeom>
        </p:spPr>
      </p:pic>
      <p:sp>
        <p:nvSpPr>
          <p:cNvPr id="12" name="Text 7"/>
          <p:cNvSpPr/>
          <p:nvPr/>
        </p:nvSpPr>
        <p:spPr>
          <a:xfrm>
            <a:off x="3108960" y="2971800"/>
            <a:ext cx="2926080" cy="365760"/>
          </a:xfrm>
          <a:prstGeom prst="rect">
            <a:avLst/>
          </a:prstGeom>
          <a:noFill/>
          <a:ln/>
        </p:spPr>
        <p:txBody>
          <a:bodyPr wrap="square" rtlCol="0" anchor="ctr"/>
          <a:lstStyle/>
          <a:p>
            <a:pPr algn="ctr" indent="0" marL="0">
              <a:buNone/>
            </a:pPr>
            <a:r>
              <a:rPr lang="en-US" sz="1700" b="1" dirty="0">
                <a:solidFill>
                  <a:srgbClr val="EEF4F2"/>
                </a:solidFill>
                <a:latin typeface="Arial" pitchFamily="34" charset="0"/>
                <a:ea typeface="Arial" pitchFamily="34" charset="-122"/>
                <a:cs typeface="Arial" pitchFamily="34" charset="-120"/>
              </a:rPr>
              <a:t>GitHub</a:t>
            </a:r>
            <a:endParaRPr lang="en-US" sz="1700" dirty="0"/>
          </a:p>
        </p:txBody>
      </p:sp>
      <p:sp>
        <p:nvSpPr>
          <p:cNvPr id="13" name="Text 8"/>
          <p:cNvSpPr/>
          <p:nvPr/>
        </p:nvSpPr>
        <p:spPr>
          <a:xfrm>
            <a:off x="3108960" y="3374136"/>
            <a:ext cx="2926080" cy="502920"/>
          </a:xfrm>
          <a:prstGeom prst="rect">
            <a:avLst/>
          </a:prstGeom>
          <a:noFill/>
          <a:ln/>
        </p:spPr>
        <p:txBody>
          <a:bodyPr wrap="square" rtlCol="0" anchor="ctr"/>
          <a:lstStyle/>
          <a:p>
            <a:pPr algn="ctr" indent="0" marL="0">
              <a:buNone/>
            </a:pPr>
            <a:r>
              <a:rPr lang="en-US" sz="1150" dirty="0">
                <a:solidFill>
                  <a:srgbClr val="9FB4C7"/>
                </a:solidFill>
                <a:latin typeface="Arial" pitchFamily="34" charset="0"/>
                <a:ea typeface="Arial" pitchFamily="34" charset="-122"/>
                <a:cs typeface="Arial" pitchFamily="34" charset="-120"/>
              </a:rPr>
              <a:t>3 branches · Pull Requests</a:t>
            </a:r>
            <a:endParaRPr lang="en-US" sz="1150" dirty="0"/>
          </a:p>
        </p:txBody>
      </p:sp>
      <p:sp>
        <p:nvSpPr>
          <p:cNvPr id="14" name="Shape 9"/>
          <p:cNvSpPr/>
          <p:nvPr/>
        </p:nvSpPr>
        <p:spPr>
          <a:xfrm>
            <a:off x="6894576" y="1965960"/>
            <a:ext cx="841248" cy="841248"/>
          </a:xfrm>
          <a:prstGeom prst="ellipse">
            <a:avLst/>
          </a:prstGeom>
          <a:solidFill>
            <a:srgbClr val="F4581C"/>
          </a:solidFill>
          <a:ln/>
        </p:spPr>
      </p:sp>
      <p:pic>
        <p:nvPicPr>
          <p:cNvPr id="15" name="Image 2" descr="preencoded.png">    </p:cNvPr>
          <p:cNvPicPr>
            <a:picLocks noChangeAspect="1"/>
          </p:cNvPicPr>
          <p:nvPr/>
        </p:nvPicPr>
        <p:blipFill>
          <a:blip r:embed="rId3"/>
          <a:stretch>
            <a:fillRect/>
          </a:stretch>
        </p:blipFill>
        <p:spPr>
          <a:xfrm>
            <a:off x="7121713" y="2193097"/>
            <a:ext cx="386974" cy="386974"/>
          </a:xfrm>
          <a:prstGeom prst="rect">
            <a:avLst/>
          </a:prstGeom>
        </p:spPr>
      </p:pic>
      <p:sp>
        <p:nvSpPr>
          <p:cNvPr id="16" name="Text 10"/>
          <p:cNvSpPr/>
          <p:nvPr/>
        </p:nvSpPr>
        <p:spPr>
          <a:xfrm>
            <a:off x="5852160" y="2971800"/>
            <a:ext cx="2926080" cy="365760"/>
          </a:xfrm>
          <a:prstGeom prst="rect">
            <a:avLst/>
          </a:prstGeom>
          <a:noFill/>
          <a:ln/>
        </p:spPr>
        <p:txBody>
          <a:bodyPr wrap="square" rtlCol="0" anchor="ctr"/>
          <a:lstStyle/>
          <a:p>
            <a:pPr algn="ctr" indent="0" marL="0">
              <a:buNone/>
            </a:pPr>
            <a:r>
              <a:rPr lang="en-US" sz="1700" b="1" dirty="0">
                <a:solidFill>
                  <a:srgbClr val="EEF4F2"/>
                </a:solidFill>
                <a:latin typeface="Arial" pitchFamily="34" charset="0"/>
                <a:ea typeface="Arial" pitchFamily="34" charset="-122"/>
                <a:cs typeface="Arial" pitchFamily="34" charset="-120"/>
              </a:rPr>
              <a:t>Binôme</a:t>
            </a:r>
            <a:endParaRPr lang="en-US" sz="1700" dirty="0"/>
          </a:p>
        </p:txBody>
      </p:sp>
      <p:sp>
        <p:nvSpPr>
          <p:cNvPr id="17" name="Text 11"/>
          <p:cNvSpPr/>
          <p:nvPr/>
        </p:nvSpPr>
        <p:spPr>
          <a:xfrm>
            <a:off x="5852160" y="3374136"/>
            <a:ext cx="2926080" cy="502920"/>
          </a:xfrm>
          <a:prstGeom prst="rect">
            <a:avLst/>
          </a:prstGeom>
          <a:noFill/>
          <a:ln/>
        </p:spPr>
        <p:txBody>
          <a:bodyPr wrap="square" rtlCol="0" anchor="ctr"/>
          <a:lstStyle/>
          <a:p>
            <a:pPr algn="ctr" indent="0" marL="0">
              <a:buNone/>
            </a:pPr>
            <a:r>
              <a:rPr lang="en-US" sz="1150" dirty="0">
                <a:solidFill>
                  <a:srgbClr val="9FB4C7"/>
                </a:solidFill>
                <a:latin typeface="Arial" pitchFamily="34" charset="0"/>
                <a:ea typeface="Arial" pitchFamily="34" charset="-122"/>
                <a:cs typeface="Arial" pitchFamily="34" charset="-120"/>
              </a:rPr>
              <a:t>Gauvin · Alessio, revue croisée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51B"/>
        </a:solidFill>
      </p:bgPr>
    </p:bg>
    <p:spTree>
      <p:nvGrpSpPr>
        <p:cNvPr id="1" name=""/>
        <p:cNvGrpSpPr/>
        <p:nvPr/>
      </p:nvGrpSpPr>
      <p:grpSpPr>
        <a:xfrm>
          <a:off x="0" y="0"/>
          <a:ext cx="0" cy="0"/>
          <a:chOff x="0" y="0"/>
          <a:chExt cx="0" cy="0"/>
        </a:xfrm>
      </p:grpSpPr>
      <p:sp>
        <p:nvSpPr>
          <p:cNvPr id="2" name="Text 0"/>
          <p:cNvSpPr/>
          <p:nvPr/>
        </p:nvSpPr>
        <p:spPr>
          <a:xfrm>
            <a:off x="8412480" y="4828032"/>
            <a:ext cx="457200" cy="228600"/>
          </a:xfrm>
          <a:prstGeom prst="rect">
            <a:avLst/>
          </a:prstGeom>
          <a:noFill/>
          <a:ln/>
        </p:spPr>
        <p:txBody>
          <a:bodyPr wrap="square" rtlCol="0" anchor="ctr"/>
          <a:lstStyle/>
          <a:p>
            <a:pPr algn="r" indent="0" marL="0">
              <a:buNone/>
            </a:pPr>
            <a:r>
              <a:rPr lang="en-US" sz="900" dirty="0">
                <a:solidFill>
                  <a:srgbClr val="5E6B76"/>
                </a:solidFill>
                <a:latin typeface="Arial" pitchFamily="34" charset="0"/>
                <a:ea typeface="Arial" pitchFamily="34" charset="-122"/>
                <a:cs typeface="Arial" pitchFamily="34" charset="-120"/>
              </a:rPr>
              <a:t>11</a:t>
            </a:r>
            <a:endParaRPr lang="en-US" sz="900" dirty="0"/>
          </a:p>
        </p:txBody>
      </p:sp>
      <p:sp>
        <p:nvSpPr>
          <p:cNvPr id="4" name="Text 1"/>
          <p:cNvSpPr/>
          <p:nvPr/>
        </p:nvSpPr>
        <p:spPr>
          <a:xfrm>
            <a:off x="457200" y="1417320"/>
            <a:ext cx="8229600" cy="914400"/>
          </a:xfrm>
          <a:prstGeom prst="rect">
            <a:avLst/>
          </a:prstGeom>
          <a:noFill/>
          <a:ln/>
        </p:spPr>
        <p:txBody>
          <a:bodyPr wrap="square" rtlCol="0" anchor="ctr"/>
          <a:lstStyle/>
          <a:p>
            <a:pPr algn="ctr" indent="0" marL="0">
              <a:buNone/>
            </a:pPr>
            <a:r>
              <a:rPr lang="en-US" sz="5200" b="1" dirty="0">
                <a:solidFill>
                  <a:srgbClr val="EEF4F2"/>
                </a:solidFill>
                <a:latin typeface="Arial" pitchFamily="34" charset="0"/>
                <a:ea typeface="Arial" pitchFamily="34" charset="-122"/>
                <a:cs typeface="Arial" pitchFamily="34" charset="-120"/>
              </a:rPr>
              <a:t>Merci.</a:t>
            </a:r>
            <a:endParaRPr lang="en-US" sz="5200" dirty="0"/>
          </a:p>
        </p:txBody>
      </p:sp>
      <p:sp>
        <p:nvSpPr>
          <p:cNvPr id="5" name="Text 2"/>
          <p:cNvSpPr/>
          <p:nvPr/>
        </p:nvSpPr>
        <p:spPr>
          <a:xfrm>
            <a:off x="457200" y="2468880"/>
            <a:ext cx="8229600" cy="365760"/>
          </a:xfrm>
          <a:prstGeom prst="rect">
            <a:avLst/>
          </a:prstGeom>
          <a:noFill/>
          <a:ln/>
        </p:spPr>
        <p:txBody>
          <a:bodyPr wrap="square" rtlCol="0" anchor="ctr"/>
          <a:lstStyle/>
          <a:p>
            <a:pPr algn="ctr" indent="0" marL="0">
              <a:buNone/>
            </a:pPr>
            <a:r>
              <a:rPr lang="en-US" sz="1600" dirty="0">
                <a:solidFill>
                  <a:srgbClr val="9FB4C7"/>
                </a:solidFill>
                <a:latin typeface="Arial" pitchFamily="34" charset="0"/>
                <a:ea typeface="Arial" pitchFamily="34" charset="-122"/>
                <a:cs typeface="Arial" pitchFamily="34" charset="-120"/>
              </a:rPr>
              <a:t>Place à la démonstration et à vos questions</a:t>
            </a:r>
            <a:endParaRPr lang="en-US" sz="1600" dirty="0"/>
          </a:p>
        </p:txBody>
      </p:sp>
      <p:sp>
        <p:nvSpPr>
          <p:cNvPr id="6" name="Text 3"/>
          <p:cNvSpPr/>
          <p:nvPr/>
        </p:nvSpPr>
        <p:spPr>
          <a:xfrm>
            <a:off x="457200" y="3429000"/>
            <a:ext cx="8229600" cy="365760"/>
          </a:xfrm>
          <a:prstGeom prst="rect">
            <a:avLst/>
          </a:prstGeom>
          <a:noFill/>
          <a:ln/>
        </p:spPr>
        <p:txBody>
          <a:bodyPr wrap="square" rtlCol="0" anchor="ctr"/>
          <a:lstStyle/>
          <a:p>
            <a:pPr algn="ctr" indent="0" marL="0">
              <a:buNone/>
            </a:pPr>
            <a:r>
              <a:rPr lang="en-US" sz="1350" b="1" dirty="0">
                <a:solidFill>
                  <a:srgbClr val="F4581C"/>
                </a:solidFill>
                <a:latin typeface="Arial" pitchFamily="34" charset="0"/>
                <a:ea typeface="Arial" pitchFamily="34" charset="-122"/>
                <a:cs typeface="Arial" pitchFamily="34" charset="-120"/>
              </a:rPr>
              <a:t>Et après : </a:t>
            </a:r>
            <a:pPr algn="ctr" indent="0" marL="0">
              <a:buNone/>
            </a:pPr>
            <a:r>
              <a:rPr lang="en-US" sz="1350" dirty="0">
                <a:solidFill>
                  <a:srgbClr val="9FB4C7"/>
                </a:solidFill>
                <a:latin typeface="Arial" pitchFamily="34" charset="0"/>
                <a:ea typeface="Arial" pitchFamily="34" charset="-122"/>
                <a:cs typeface="Arial" pitchFamily="34" charset="-120"/>
              </a:rPr>
              <a:t>Firebase Auth    ·    Upload d'images    ·    Pagination</a:t>
            </a:r>
            <a:endParaRPr lang="en-US" sz="1350" dirty="0"/>
          </a:p>
        </p:txBody>
      </p:sp>
      <p:sp>
        <p:nvSpPr>
          <p:cNvPr id="7" name="Text 4"/>
          <p:cNvSpPr/>
          <p:nvPr/>
        </p:nvSpPr>
        <p:spPr>
          <a:xfrm>
            <a:off x="457200" y="4370832"/>
            <a:ext cx="8229600" cy="274320"/>
          </a:xfrm>
          <a:prstGeom prst="rect">
            <a:avLst/>
          </a:prstGeom>
          <a:noFill/>
          <a:ln/>
        </p:spPr>
        <p:txBody>
          <a:bodyPr wrap="square" rtlCol="0" anchor="ctr"/>
          <a:lstStyle/>
          <a:p>
            <a:pPr algn="ctr" indent="0" marL="0">
              <a:buNone/>
            </a:pPr>
            <a:r>
              <a:rPr lang="en-US" sz="1050" dirty="0">
                <a:solidFill>
                  <a:srgbClr val="5E6B76"/>
                </a:solidFill>
                <a:latin typeface="Arial" pitchFamily="34" charset="0"/>
                <a:ea typeface="Arial" pitchFamily="34" charset="-122"/>
                <a:cs typeface="Arial" pitchFamily="34" charset="-120"/>
              </a:rPr>
              <a:t>Démo : [URL]      ·      Dépôt : github.com/[utilisateur]/catalogue-moto-nosql</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Catalogue de pièces moto — projet NoSQL</dc:title>
  <dc:subject>PptxGenJS Presentation</dc:subject>
  <dc:creator>Gauvin CAILLOU · Alessio COGERINO</dc:creator>
  <cp:lastModifiedBy>Gauvin CAILLOU · Alessio COGERINO</cp:lastModifiedBy>
  <cp:revision>1</cp:revision>
  <dcterms:created xsi:type="dcterms:W3CDTF">2026-06-17T03:55:33Z</dcterms:created>
  <dcterms:modified xsi:type="dcterms:W3CDTF">2026-06-17T03:55:33Z</dcterms:modified>
</cp:coreProperties>
</file>